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74" r:id="rId9"/>
    <p:sldId id="264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81" r:id="rId18"/>
    <p:sldId id="273" r:id="rId19"/>
    <p:sldId id="276" r:id="rId20"/>
    <p:sldId id="275" r:id="rId21"/>
    <p:sldId id="278" r:id="rId22"/>
    <p:sldId id="280" r:id="rId2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231"/>
    <a:srgbClr val="98F6BC"/>
    <a:srgbClr val="FCE2E1"/>
    <a:srgbClr val="E0EDF4"/>
    <a:srgbClr val="EDF5F9"/>
    <a:srgbClr val="768B95"/>
    <a:srgbClr val="153039"/>
    <a:srgbClr val="FF2600"/>
    <a:srgbClr val="D1271E"/>
    <a:srgbClr val="007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3"/>
    <p:restoredTop sz="94658"/>
  </p:normalViewPr>
  <p:slideViewPr>
    <p:cSldViewPr snapToGrid="0">
      <p:cViewPr varScale="1">
        <p:scale>
          <a:sx n="120" d="100"/>
          <a:sy n="120" d="100"/>
        </p:scale>
        <p:origin x="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0E3F7-23B0-3543-BDA3-F305DD52C83E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5062D-5968-E043-985F-D6D3C579F9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340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062D-5968-E043-985F-D6D3C579F9B2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474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321885-CE4F-B09F-AF63-B0F06F928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8A1B357-A0F2-A336-9820-D3378FE78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26C9B3-9CE6-5313-8B64-E1A417F6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B5C9-4E27-7347-87DA-0D49101FB4AA}" type="datetime1">
              <a:rPr lang="tr-TR" smtClean="0"/>
              <a:t>28.08.2026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38B2BBB-D787-5F90-047A-3A7272D4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DFC0A4C-DFFF-066D-5BDE-58EC2D05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795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D38628-D2AA-7D18-1288-D5FF0594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3CA061-1D9D-8F3A-C2B5-151EDAD0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92239F9-D1D3-EDCB-62D5-AC011FFB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2B70-FA5C-044C-BA07-ED5B41BD4BC0}" type="datetime1">
              <a:rPr lang="tr-TR" smtClean="0"/>
              <a:t>28.08.2026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1A5A267-8CE6-1B25-7589-6C9987DB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1C7CB1-AE25-38A5-29A3-745D3978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90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1F1C42-A9A0-D88B-F2BE-EF699EAD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680E215-B585-7505-59E5-5E6D81804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1F548AC-ACF9-5C46-D529-FEB79788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8F3A6-491B-D346-BE81-2BDA2A3C7BDC}" type="datetime1">
              <a:rPr lang="tr-TR" smtClean="0"/>
              <a:t>28.08.2026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4802CF-3AC0-2804-3E55-57F4AB1D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18FB77D-B2CA-E2B2-17A2-FE7747B5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9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9D5DFA-D4D9-2D8D-46FF-94F15838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D406100-E49E-9C9B-066B-E10847FDD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EF72B0-DD46-9FD2-DA64-550EC7A1F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086A4E0-DC00-9A85-C32C-D432A596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8336-5765-D44D-98EB-DB374CD3C50A}" type="datetime1">
              <a:rPr lang="tr-TR" smtClean="0"/>
              <a:t>28.08.2026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5472832-9171-2146-309E-663F2FD41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B9FA806-348D-A965-3461-323C3A38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127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AC7311-A41D-39F7-A1D0-412773DF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6787F4-DC22-57F6-232E-6EBB79D3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EC7D80C-B52C-592B-655A-2F48689A3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7A355E0-556C-7044-5D3C-B0FCA703D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E906A9A-86DC-0716-3E32-3A22A4087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13346E7-5171-9E04-1ADC-1CE29942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C245-9F63-0E4C-AFA1-EA11552E851D}" type="datetime1">
              <a:rPr lang="tr-TR" smtClean="0"/>
              <a:t>28.08.2026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ED47E13-274C-63D7-BD5D-692B0ABD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0766415-768B-2658-C1A9-0607165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78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A2373C-3057-5200-EF1D-733462D3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5B80CB9-B368-9205-21B1-EB066921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11FD6-22A5-BF49-B7AF-BD72E9593843}" type="datetime1">
              <a:rPr lang="tr-TR" smtClean="0"/>
              <a:t>28.08.2026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3CF9CF6-0F58-E239-BD79-9C56159A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4A808C5-59C3-F78D-C382-B70DCA71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185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CFABFAD-5E64-955B-FC78-D8E240F6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A604-33BB-F941-B197-8F9B3EF05269}" type="datetime1">
              <a:rPr lang="tr-TR" smtClean="0"/>
              <a:t>28.08.2026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B0ABADB-E684-5461-1CD7-20362ED8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36B0619-4D40-2153-7376-B2E45427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174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A3E762F-AD0E-45F2-973D-251CEAEB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47B37D-8B71-3D90-F89D-0AC5E6CBB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39BD0BC-DB89-CDD7-2001-4397B72D7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0845185-C6BF-F909-03E9-6D0701B2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3297A-4599-664B-A5F4-2FD2B8DB7B75}" type="datetime1">
              <a:rPr lang="tr-TR" smtClean="0"/>
              <a:t>28.08.2026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61C3EE5-8A44-8CC8-7BE0-662CFF7D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44A9F04-535B-CCBF-6600-77B16001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282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EF054A-84DD-A873-67BF-44FE9035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D4F8832-C46A-F562-316B-A7F00CA78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2A10912-9C79-38D2-D14E-33E913E72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C1E0CEA-62F9-F518-96F4-8856B640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D36E-4C49-AB40-A845-B435747E40D5}" type="datetime1">
              <a:rPr lang="tr-TR" smtClean="0"/>
              <a:t>28.08.2026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124CF89-C49B-4337-B478-1643B7FC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EF6A34-62EB-89AE-DC26-E0E65CD4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08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B50160-21FB-6220-D2F5-4E5DD80F5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721E917-9390-5353-CE03-437A0ADF0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4FFA46-B522-00AE-BF6E-FB51E582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78FC-C3F5-7F41-8B4E-FC83CD5227E0}" type="datetime1">
              <a:rPr lang="tr-TR" smtClean="0"/>
              <a:t>28.08.2026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7F31599-4C6B-87B5-5AED-60C9548C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EC390C-C0A8-8A58-6411-9F0E99ED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621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9844508B-CB22-A824-FBA2-2A72425D0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C7737AB-A828-3BCD-A034-BFD3FC34B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843434F-6CCF-E65C-534E-8BC6A234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9EEF1-4CF1-0144-9F51-C1B3B28BD05A}" type="datetime1">
              <a:rPr lang="tr-TR" smtClean="0"/>
              <a:t>28.08.2026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C74497-A768-0ACA-6BF1-CDC9471C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BFBA99E-5C42-775E-46FE-1F7B0564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676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81EDA0C-157C-9126-D92F-3A1FCD2D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955D05C-2DF6-2C04-716B-B3CC6D2C8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10E0C91-2512-5D3C-2483-867938386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11957-B5FE-2446-9743-A21D25FEA359}" type="datetime1">
              <a:rPr lang="tr-TR" smtClean="0"/>
              <a:t>28.08.2026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9F15E7A-B9BE-DF62-E708-CDB354A85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CA5A57-F937-1324-A28C-F2245D5B3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FB1D8-3431-A44A-9066-F2397F6F2A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610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athon.qndco.com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A245665A-5776-A131-5EAA-42EFCAC74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9511" y="5679440"/>
            <a:ext cx="993841" cy="117856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23263895-5324-AC8F-6760-1B5E1F9FE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735" y="5852033"/>
            <a:ext cx="1504539" cy="846303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F712D428-F19A-690A-C292-C4317186F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189" y="5679440"/>
            <a:ext cx="956920" cy="117856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306A4FB3-C801-62A8-AA7F-CAC1A59ED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920" y="159537"/>
            <a:ext cx="1137252" cy="1302871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7D762388-42B8-B7DC-EEE7-305EA04127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sp>
        <p:nvSpPr>
          <p:cNvPr id="21" name="Metin kutusu 20">
            <a:extLst>
              <a:ext uri="{FF2B5EF4-FFF2-40B4-BE49-F238E27FC236}">
                <a16:creationId xmlns:a16="http://schemas.microsoft.com/office/drawing/2014/main" id="{66AFEF7B-8399-6B92-58B9-12FADAEF12FB}"/>
              </a:ext>
            </a:extLst>
          </p:cNvPr>
          <p:cNvSpPr txBox="1"/>
          <p:nvPr/>
        </p:nvSpPr>
        <p:spPr>
          <a:xfrm>
            <a:off x="331470" y="1851028"/>
            <a:ext cx="8503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b="1" dirty="0">
                <a:solidFill>
                  <a:schemeClr val="bg1"/>
                </a:solidFill>
                <a:latin typeface="Helvetica" pitchFamily="2" charset="0"/>
              </a:rPr>
              <a:t>KUANTUM </a:t>
            </a:r>
          </a:p>
          <a:p>
            <a:r>
              <a:rPr lang="tr-TR" sz="4000" b="1" dirty="0">
                <a:solidFill>
                  <a:schemeClr val="bg1"/>
                </a:solidFill>
                <a:latin typeface="Helvetica" pitchFamily="2" charset="0"/>
              </a:rPr>
              <a:t>TEKNOLOJİLERİ YARIŞMASI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3B2CE4E3-2E0F-9CB2-DD6E-102C03A54967}"/>
              </a:ext>
            </a:extLst>
          </p:cNvPr>
          <p:cNvSpPr txBox="1"/>
          <p:nvPr/>
        </p:nvSpPr>
        <p:spPr>
          <a:xfrm>
            <a:off x="331470" y="3271034"/>
            <a:ext cx="6097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1A96C5"/>
                </a:solidFill>
                <a:latin typeface="Helvetica" pitchFamily="2" charset="0"/>
              </a:rPr>
              <a:t>Yazılım Kategorisi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4311C70-59D7-9B82-F928-2746407619CB}"/>
              </a:ext>
            </a:extLst>
          </p:cNvPr>
          <p:cNvSpPr txBox="1"/>
          <p:nvPr/>
        </p:nvSpPr>
        <p:spPr>
          <a:xfrm>
            <a:off x="461359" y="4077739"/>
            <a:ext cx="6097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600" i="1" dirty="0">
                <a:solidFill>
                  <a:schemeClr val="bg1"/>
                </a:solidFill>
                <a:effectLst/>
                <a:latin typeface="Helvetica" pitchFamily="2" charset="0"/>
              </a:rPr>
              <a:t>Su Kaynakları ve Dağıtım Ağında Dinamik Tahsis Optimizasyonu 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7BE5F129-5F68-0A11-82AB-9A495B7AC522}"/>
              </a:ext>
            </a:extLst>
          </p:cNvPr>
          <p:cNvSpPr/>
          <p:nvPr/>
        </p:nvSpPr>
        <p:spPr>
          <a:xfrm>
            <a:off x="461359" y="4067016"/>
            <a:ext cx="36000" cy="36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CD6A45B-8150-4100-AD73-36C5508EC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920" y="5679440"/>
            <a:ext cx="1329728" cy="13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0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C078657A-5825-74A7-D94E-6C0FBD8E4462}"/>
              </a:ext>
            </a:extLst>
          </p:cNvPr>
          <p:cNvSpPr txBox="1"/>
          <p:nvPr/>
        </p:nvSpPr>
        <p:spPr>
          <a:xfrm>
            <a:off x="925830" y="1462408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Problem ve Bağlam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0108A3F-878D-5214-054A-294689AEFCC5}"/>
              </a:ext>
            </a:extLst>
          </p:cNvPr>
          <p:cNvSpPr txBox="1"/>
          <p:nvPr/>
        </p:nvSpPr>
        <p:spPr>
          <a:xfrm>
            <a:off x="925830" y="2266318"/>
            <a:ext cx="290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Şebeke Mimarisi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528E9FD-8F01-0EA5-52A9-E9D877436C76}"/>
              </a:ext>
            </a:extLst>
          </p:cNvPr>
          <p:cNvSpPr txBox="1"/>
          <p:nvPr/>
        </p:nvSpPr>
        <p:spPr>
          <a:xfrm>
            <a:off x="925830" y="3070228"/>
            <a:ext cx="3874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Sistem ve Veri Kümesi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F7B2BCD4-1399-A663-2A3A-762B433CB96A}"/>
              </a:ext>
            </a:extLst>
          </p:cNvPr>
          <p:cNvSpPr txBox="1"/>
          <p:nvPr/>
        </p:nvSpPr>
        <p:spPr>
          <a:xfrm>
            <a:off x="925830" y="3874138"/>
            <a:ext cx="405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Görevler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A3D30A8-5D7B-07A0-CAF2-BC5C9A6C684E}"/>
              </a:ext>
            </a:extLst>
          </p:cNvPr>
          <p:cNvSpPr txBox="1"/>
          <p:nvPr/>
        </p:nvSpPr>
        <p:spPr>
          <a:xfrm>
            <a:off x="925830" y="4678048"/>
            <a:ext cx="3874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Teslim ve Denetim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6603AA9-5821-2F20-9F71-E45F1B7F051D}"/>
              </a:ext>
            </a:extLst>
          </p:cNvPr>
          <p:cNvSpPr txBox="1"/>
          <p:nvPr/>
        </p:nvSpPr>
        <p:spPr>
          <a:xfrm>
            <a:off x="925830" y="5481958"/>
            <a:ext cx="290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  <a:latin typeface="Helvetica" pitchFamily="2" charset="0"/>
              </a:rPr>
              <a:t>Soru &amp; Cevap</a:t>
            </a: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9580C3E3-4DB7-B564-22C8-8D9094E3C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264" y="159537"/>
            <a:ext cx="1137252" cy="1302871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00B97E9F-62F2-6618-E2D0-5D2CE2DD3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3" y="242346"/>
            <a:ext cx="1137252" cy="113725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0003A50-E846-39C2-3E09-C2B4D9419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511" y="5679440"/>
            <a:ext cx="993841" cy="117856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BB009F5F-D152-D44B-6BA0-77269DC9E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735" y="5852033"/>
            <a:ext cx="1504539" cy="846303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BA503499-B54C-688F-C5FB-FFB67F76DC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189" y="5679440"/>
            <a:ext cx="956920" cy="117856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BD41C7E7-BFA3-0A7B-DD06-A08691988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920" y="5679440"/>
            <a:ext cx="1329728" cy="13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CE236F6B-1EFD-0002-DCE3-79818682EF88}"/>
              </a:ext>
            </a:extLst>
          </p:cNvPr>
          <p:cNvSpPr txBox="1"/>
          <p:nvPr/>
        </p:nvSpPr>
        <p:spPr>
          <a:xfrm>
            <a:off x="4639151" y="580139"/>
            <a:ext cx="2676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Problem Tanıtımı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5A05397-F90B-AF11-9B68-1CC15B53A262}"/>
              </a:ext>
            </a:extLst>
          </p:cNvPr>
          <p:cNvSpPr txBox="1"/>
          <p:nvPr/>
        </p:nvSpPr>
        <p:spPr>
          <a:xfrm>
            <a:off x="775335" y="1694019"/>
            <a:ext cx="107346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000000"/>
                </a:solidFill>
                <a:effectLst/>
                <a:latin typeface="Helvetica" pitchFamily="2" charset="0"/>
              </a:rPr>
              <a:t>Kentsel su dağıtım sistemlerinin işletilmesi, </a:t>
            </a:r>
            <a:r>
              <a:rPr lang="tr-TR" b="1" dirty="0">
                <a:solidFill>
                  <a:srgbClr val="000000"/>
                </a:solidFill>
                <a:effectLst/>
                <a:latin typeface="Helvetica" pitchFamily="2" charset="0"/>
              </a:rPr>
              <a:t>su kaynakları</a:t>
            </a:r>
            <a:r>
              <a:rPr lang="tr-TR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tr-TR" b="1" dirty="0">
                <a:solidFill>
                  <a:srgbClr val="000000"/>
                </a:solidFill>
                <a:effectLst/>
                <a:latin typeface="Helvetica" pitchFamily="2" charset="0"/>
              </a:rPr>
              <a:t>pompalar</a:t>
            </a:r>
            <a:r>
              <a:rPr lang="tr-TR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tr-TR" b="1" dirty="0">
                <a:solidFill>
                  <a:srgbClr val="000000"/>
                </a:solidFill>
                <a:effectLst/>
                <a:latin typeface="Helvetica" pitchFamily="2" charset="0"/>
              </a:rPr>
              <a:t>iletim hatları</a:t>
            </a:r>
            <a:r>
              <a:rPr lang="tr-T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tr-TR" b="1" dirty="0">
                <a:solidFill>
                  <a:srgbClr val="000000"/>
                </a:solidFill>
                <a:effectLst/>
                <a:latin typeface="Helvetica" pitchFamily="2" charset="0"/>
              </a:rPr>
              <a:t>ve depoların eş zamanlı yönetimini </a:t>
            </a:r>
            <a:r>
              <a:rPr lang="tr-TR" dirty="0">
                <a:solidFill>
                  <a:srgbClr val="000000"/>
                </a:solidFill>
                <a:effectLst/>
                <a:latin typeface="Helvetica" pitchFamily="2" charset="0"/>
              </a:rPr>
              <a:t>gerektiren karmaşık bir optimizasyon problemidir.</a:t>
            </a:r>
            <a:endParaRPr lang="tr-TR" dirty="0">
              <a:latin typeface="Helvetica" pitchFamily="2" charset="0"/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A30ED9-F3FB-57CA-F90F-2DC46037E499}"/>
              </a:ext>
            </a:extLst>
          </p:cNvPr>
          <p:cNvSpPr/>
          <p:nvPr/>
        </p:nvSpPr>
        <p:spPr>
          <a:xfrm>
            <a:off x="775333" y="2510151"/>
            <a:ext cx="10404159" cy="3180934"/>
          </a:xfrm>
          <a:prstGeom prst="rect">
            <a:avLst/>
          </a:prstGeom>
          <a:solidFill>
            <a:srgbClr val="EDF5F9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0A38BB6-E7CB-FF25-571A-DAE135E38BFD}"/>
              </a:ext>
            </a:extLst>
          </p:cNvPr>
          <p:cNvSpPr txBox="1"/>
          <p:nvPr/>
        </p:nvSpPr>
        <p:spPr>
          <a:xfrm>
            <a:off x="1198244" y="2676959"/>
            <a:ext cx="8494395" cy="276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tr-TR" sz="1600" b="1" dirty="0">
                <a:solidFill>
                  <a:srgbClr val="000000"/>
                </a:solidFill>
                <a:effectLst/>
              </a:rPr>
              <a:t>Amaç;</a:t>
            </a:r>
          </a:p>
          <a:p>
            <a:pPr indent="0" algn="l">
              <a:buNone/>
            </a:pPr>
            <a:endParaRPr lang="tr-TR" sz="1600" dirty="0">
              <a:solidFill>
                <a:srgbClr val="000000"/>
              </a:solidFill>
              <a:effectLst/>
            </a:endParaRPr>
          </a:p>
          <a:p>
            <a:pPr marL="285750" lvl="0" indent="-285750" algn="l">
              <a:lnSpc>
                <a:spcPct val="150000"/>
              </a:lnSpc>
              <a:buClr>
                <a:srgbClr val="FF2600"/>
              </a:buClr>
              <a:buFont typeface="Sistem Fontu Normal"/>
              <a:buChar char="→"/>
            </a:pPr>
            <a:r>
              <a:rPr lang="tr-TR" sz="1600" dirty="0">
                <a:solidFill>
                  <a:srgbClr val="000000"/>
                </a:solidFill>
                <a:effectLst/>
              </a:rPr>
              <a:t>Şehrin su talebini </a:t>
            </a:r>
            <a:r>
              <a:rPr lang="tr-TR" sz="1600" b="1" dirty="0">
                <a:solidFill>
                  <a:srgbClr val="000000"/>
                </a:solidFill>
                <a:effectLst/>
              </a:rPr>
              <a:t>kesintisiz ve güvenilir</a:t>
            </a:r>
            <a:r>
              <a:rPr lang="tr-TR" sz="1600" dirty="0">
                <a:solidFill>
                  <a:srgbClr val="000000"/>
                </a:solidFill>
                <a:effectLst/>
              </a:rPr>
              <a:t> biçimde karşılamak,</a:t>
            </a:r>
          </a:p>
          <a:p>
            <a:pPr marL="285750" lvl="0" indent="-285750" algn="l">
              <a:lnSpc>
                <a:spcPct val="150000"/>
              </a:lnSpc>
              <a:buClr>
                <a:srgbClr val="FF2600"/>
              </a:buClr>
              <a:buFont typeface="Sistem Fontu Normal"/>
              <a:buChar char="→"/>
            </a:pPr>
            <a:r>
              <a:rPr lang="tr-TR" sz="1600" dirty="0">
                <a:solidFill>
                  <a:srgbClr val="000000"/>
                </a:solidFill>
                <a:effectLst/>
              </a:rPr>
              <a:t>Hangi kaynaktan </a:t>
            </a:r>
            <a:r>
              <a:rPr lang="tr-TR" sz="1600" b="1" dirty="0">
                <a:solidFill>
                  <a:srgbClr val="000000"/>
                </a:solidFill>
                <a:effectLst/>
              </a:rPr>
              <a:t>ne kadar su alınacağını</a:t>
            </a:r>
            <a:r>
              <a:rPr lang="tr-TR" sz="1600" dirty="0">
                <a:solidFill>
                  <a:srgbClr val="000000"/>
                </a:solidFill>
                <a:effectLst/>
              </a:rPr>
              <a:t> belirlemek,</a:t>
            </a:r>
          </a:p>
          <a:p>
            <a:pPr marL="285750" lvl="0" indent="-285750" algn="l">
              <a:lnSpc>
                <a:spcPct val="150000"/>
              </a:lnSpc>
              <a:buClr>
                <a:srgbClr val="FF2600"/>
              </a:buClr>
              <a:buFont typeface="Sistem Fontu Normal"/>
              <a:buChar char="→"/>
            </a:pPr>
            <a:r>
              <a:rPr lang="tr-TR" sz="1600" dirty="0">
                <a:solidFill>
                  <a:srgbClr val="000000"/>
                </a:solidFill>
                <a:effectLst/>
              </a:rPr>
              <a:t>Hangi pompaların </a:t>
            </a:r>
            <a:r>
              <a:rPr lang="tr-TR" sz="1600" b="1" dirty="0">
                <a:solidFill>
                  <a:srgbClr val="000000"/>
                </a:solidFill>
                <a:effectLst/>
              </a:rPr>
              <a:t>ne zaman çalışacağını</a:t>
            </a:r>
            <a:r>
              <a:rPr lang="tr-TR" sz="1600" dirty="0">
                <a:solidFill>
                  <a:srgbClr val="000000"/>
                </a:solidFill>
                <a:effectLst/>
              </a:rPr>
              <a:t> planlamak,</a:t>
            </a:r>
          </a:p>
          <a:p>
            <a:pPr marL="285750" lvl="0" indent="-285750" algn="l">
              <a:lnSpc>
                <a:spcPct val="150000"/>
              </a:lnSpc>
              <a:buClr>
                <a:srgbClr val="FF2600"/>
              </a:buClr>
              <a:buFont typeface="Sistem Fontu Normal"/>
              <a:buChar char="→"/>
            </a:pPr>
            <a:r>
              <a:rPr lang="tr-TR" sz="1600" dirty="0">
                <a:solidFill>
                  <a:srgbClr val="000000"/>
                </a:solidFill>
                <a:effectLst/>
              </a:rPr>
              <a:t>Suyun </a:t>
            </a:r>
            <a:r>
              <a:rPr lang="tr-TR" sz="1600" b="1" dirty="0">
                <a:solidFill>
                  <a:srgbClr val="000000"/>
                </a:solidFill>
                <a:effectLst/>
              </a:rPr>
              <a:t>hangi hatlardan iletileceğini</a:t>
            </a:r>
            <a:r>
              <a:rPr lang="tr-TR" sz="1600" dirty="0">
                <a:solidFill>
                  <a:srgbClr val="000000"/>
                </a:solidFill>
                <a:effectLst/>
              </a:rPr>
              <a:t> belirlemek,</a:t>
            </a:r>
          </a:p>
          <a:p>
            <a:pPr marL="285750" lvl="0" indent="-285750" algn="l">
              <a:lnSpc>
                <a:spcPct val="150000"/>
              </a:lnSpc>
              <a:buClr>
                <a:srgbClr val="FF2600"/>
              </a:buClr>
              <a:buFont typeface="Sistem Fontu Normal"/>
              <a:buChar char="→"/>
            </a:pPr>
            <a:r>
              <a:rPr lang="tr-TR" sz="1600" dirty="0">
                <a:solidFill>
                  <a:srgbClr val="000000"/>
                </a:solidFill>
                <a:effectLst/>
              </a:rPr>
              <a:t>Depo seviyelerini </a:t>
            </a:r>
            <a:r>
              <a:rPr lang="tr-TR" sz="1600" b="1" dirty="0">
                <a:solidFill>
                  <a:srgbClr val="000000"/>
                </a:solidFill>
                <a:effectLst/>
              </a:rPr>
              <a:t>dengeli ve güvenli sınırlar içinde</a:t>
            </a:r>
            <a:r>
              <a:rPr lang="tr-TR" sz="1600" dirty="0">
                <a:solidFill>
                  <a:srgbClr val="000000"/>
                </a:solidFill>
                <a:effectLst/>
              </a:rPr>
              <a:t> tutmak,</a:t>
            </a:r>
          </a:p>
          <a:p>
            <a:pPr marL="285750" lvl="0" indent="-285750" algn="l">
              <a:lnSpc>
                <a:spcPct val="150000"/>
              </a:lnSpc>
              <a:buClr>
                <a:srgbClr val="FF2600"/>
              </a:buClr>
              <a:buFont typeface="Sistem Fontu Normal"/>
              <a:buChar char="→"/>
            </a:pPr>
            <a:r>
              <a:rPr lang="tr-TR" sz="1600" dirty="0">
                <a:solidFill>
                  <a:srgbClr val="000000"/>
                </a:solidFill>
                <a:effectLst/>
              </a:rPr>
              <a:t>Tüm hidrolik ve işletme kısıtlarını sağlayarak </a:t>
            </a:r>
            <a:r>
              <a:rPr lang="tr-TR" sz="1600" b="1" dirty="0">
                <a:solidFill>
                  <a:srgbClr val="000000"/>
                </a:solidFill>
                <a:effectLst/>
              </a:rPr>
              <a:t>toplam işletme maliyetini en aza indirmektir.</a:t>
            </a:r>
            <a:endParaRPr lang="tr-TR" sz="1600" dirty="0">
              <a:solidFill>
                <a:srgbClr val="000000"/>
              </a:solidFill>
              <a:effectLst/>
            </a:endParaRP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AE8082AC-F9D9-5062-2C4C-2DB3A3E5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3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579D3418-E1A7-7FAD-8F53-6B26D5F6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A71EE4F-7B43-47FF-DE51-973F91FE6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BB5737EA-FC76-DF5B-BDD6-61759611CB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3676C428-A0AE-DC0C-9590-B4CF0A8E23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34A9163D-8EFE-A184-27EE-D3D87BA24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 descr="Download D-Wave Systems Logo in SVG Vector or PNG File Format - Logo.wine">
            <a:extLst>
              <a:ext uri="{FF2B5EF4-FFF2-40B4-BE49-F238E27FC236}">
                <a16:creationId xmlns:a16="http://schemas.microsoft.com/office/drawing/2014/main" id="{EF2FDB87-5FDC-7BBF-7502-DFA4C39824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6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AE4A1-AA80-7924-7E7A-39661113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F3FCE5C8-1FED-357F-2469-D5824B48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4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DE7A8FEB-5774-9F83-1737-EC2EF00A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D7D5253D-16A4-372D-A4EC-7EB7CC5972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FE911C74-60B8-7E4A-46CB-F4F22B3107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50CB5166-09D9-7679-8491-B7590A1F3B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D699772F-259C-3F76-2EE0-4A949DA7C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94502E60-5345-052C-8C95-BA6C72E7B0F9}"/>
              </a:ext>
            </a:extLst>
          </p:cNvPr>
          <p:cNvSpPr txBox="1"/>
          <p:nvPr/>
        </p:nvSpPr>
        <p:spPr>
          <a:xfrm>
            <a:off x="2716192" y="549362"/>
            <a:ext cx="6759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000000"/>
                </a:solidFill>
                <a:effectLst/>
                <a:latin typeface="Helvetica" pitchFamily="2" charset="0"/>
              </a:rPr>
              <a:t>Modellenen şebeke bir şehir ölçeğinde</a:t>
            </a:r>
            <a:endParaRPr lang="tr-TR" sz="2800" b="1" dirty="0">
              <a:latin typeface="Helvetica" pitchFamily="2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F15BE77-B422-1F64-407F-B911CC390D45}"/>
              </a:ext>
            </a:extLst>
          </p:cNvPr>
          <p:cNvSpPr txBox="1"/>
          <p:nvPr/>
        </p:nvSpPr>
        <p:spPr>
          <a:xfrm>
            <a:off x="728662" y="1863997"/>
            <a:ext cx="1137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FF2600"/>
                </a:solidFill>
                <a:effectLst/>
                <a:latin typeface="Helvetica" pitchFamily="2" charset="0"/>
              </a:rPr>
              <a:t>600</a:t>
            </a:r>
            <a:endParaRPr lang="tr-TR" sz="3600" b="1" dirty="0">
              <a:solidFill>
                <a:srgbClr val="FF2600"/>
              </a:solidFill>
              <a:latin typeface="Helvetica" pitchFamily="2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E60F0F6-6B7A-060C-0528-C6179313D69D}"/>
              </a:ext>
            </a:extLst>
          </p:cNvPr>
          <p:cNvSpPr txBox="1"/>
          <p:nvPr/>
        </p:nvSpPr>
        <p:spPr>
          <a:xfrm>
            <a:off x="2746022" y="1863997"/>
            <a:ext cx="167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FF2600"/>
                </a:solidFill>
                <a:effectLst/>
                <a:latin typeface="Helvetica" pitchFamily="2" charset="0"/>
              </a:rPr>
              <a:t>72.790</a:t>
            </a:r>
            <a:endParaRPr lang="tr-TR" sz="3600" b="1" dirty="0">
              <a:solidFill>
                <a:srgbClr val="FF2600"/>
              </a:solidFill>
              <a:latin typeface="Helvetica" pitchFamily="2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49290DA-DDF4-D061-5AF3-60DA52803CE1}"/>
              </a:ext>
            </a:extLst>
          </p:cNvPr>
          <p:cNvSpPr txBox="1"/>
          <p:nvPr/>
        </p:nvSpPr>
        <p:spPr>
          <a:xfrm>
            <a:off x="7860126" y="1875490"/>
            <a:ext cx="753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FF2600"/>
                </a:solidFill>
                <a:effectLst/>
                <a:latin typeface="Helvetica" pitchFamily="2" charset="0"/>
              </a:rPr>
              <a:t>96</a:t>
            </a:r>
            <a:endParaRPr lang="tr-TR" sz="3600" b="1" dirty="0">
              <a:solidFill>
                <a:srgbClr val="FF2600"/>
              </a:solidFill>
              <a:latin typeface="Helvetica" pitchFamily="2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A35F3D1-7F4D-B4CD-120B-AC9ED6169F5B}"/>
              </a:ext>
            </a:extLst>
          </p:cNvPr>
          <p:cNvSpPr txBox="1"/>
          <p:nvPr/>
        </p:nvSpPr>
        <p:spPr>
          <a:xfrm>
            <a:off x="9493590" y="1863996"/>
            <a:ext cx="1403930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FF2600"/>
                </a:solidFill>
                <a:effectLst/>
                <a:latin typeface="Helvetica" pitchFamily="2" charset="0"/>
              </a:rPr>
              <a:t>2382</a:t>
            </a:r>
            <a:endParaRPr lang="tr-TR" sz="3600" b="1" dirty="0">
              <a:solidFill>
                <a:srgbClr val="FF2600"/>
              </a:solidFill>
              <a:latin typeface="Helvetica" pitchFamily="2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F7AA1CF-ABDB-97CD-E338-A5A8936FA27F}"/>
              </a:ext>
            </a:extLst>
          </p:cNvPr>
          <p:cNvSpPr txBox="1"/>
          <p:nvPr/>
        </p:nvSpPr>
        <p:spPr>
          <a:xfrm>
            <a:off x="728662" y="2645990"/>
            <a:ext cx="1817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Tüketim bölgesi</a:t>
            </a:r>
          </a:p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14,3 milyon nüfusa hizmet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7A093E57-48C7-BC43-FD56-85C3E0D7A2F1}"/>
                  </a:ext>
                </a:extLst>
              </p:cNvPr>
              <p:cNvSpPr txBox="1"/>
              <p:nvPr/>
            </p:nvSpPr>
            <p:spPr>
              <a:xfrm>
                <a:off x="2766992" y="2665948"/>
                <a:ext cx="216308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tr-T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tr-TR" sz="11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tr-TR" sz="11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tr-TR" sz="11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tr-TR" sz="1100" b="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sa</m:t>
                        </m:r>
                      </m:den>
                    </m:f>
                    <m:r>
                      <a:rPr lang="tr-TR" sz="11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sz="1100" dirty="0">
                    <a:solidFill>
                      <a:schemeClr val="bg1">
                        <a:lumMod val="50000"/>
                      </a:schemeClr>
                    </a:solidFill>
                    <a:latin typeface="Helvetica" pitchFamily="2" charset="0"/>
                  </a:rPr>
                  <a:t>toplam talep</a:t>
                </a:r>
              </a:p>
              <a:p>
                <a:r>
                  <a:rPr lang="tr-TR" sz="1100" dirty="0">
                    <a:solidFill>
                      <a:schemeClr val="bg1">
                        <a:lumMod val="50000"/>
                      </a:schemeClr>
                    </a:solidFill>
                    <a:latin typeface="Helvetica" pitchFamily="2" charset="0"/>
                  </a:rPr>
                  <a:t>68.509 normal + 4.281 kritik</a:t>
                </a:r>
              </a:p>
            </p:txBody>
          </p:sp>
        </mc:Choice>
        <mc:Fallback xmlns=""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7A093E57-48C7-BC43-FD56-85C3E0D7A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992" y="2665948"/>
                <a:ext cx="2163080" cy="430887"/>
              </a:xfrm>
              <a:prstGeom prst="rect">
                <a:avLst/>
              </a:prstGeom>
              <a:blipFill>
                <a:blip r:embed="rId7"/>
                <a:stretch>
                  <a:fillRect t="-57143" b="-4857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Metin kutusu 13">
            <a:extLst>
              <a:ext uri="{FF2B5EF4-FFF2-40B4-BE49-F238E27FC236}">
                <a16:creationId xmlns:a16="http://schemas.microsoft.com/office/drawing/2014/main" id="{C99C012A-5337-F432-D1D0-B9BADEEA1CD6}"/>
              </a:ext>
            </a:extLst>
          </p:cNvPr>
          <p:cNvSpPr txBox="1"/>
          <p:nvPr/>
        </p:nvSpPr>
        <p:spPr>
          <a:xfrm>
            <a:off x="7561898" y="2749858"/>
            <a:ext cx="1337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Kritik tesis bölgesi</a:t>
            </a:r>
            <a:endParaRPr lang="tr-TR" sz="11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65E48D7F-C0B4-CD7C-858A-9FD81BB9D340}"/>
              </a:ext>
            </a:extLst>
          </p:cNvPr>
          <p:cNvSpPr txBox="1"/>
          <p:nvPr/>
        </p:nvSpPr>
        <p:spPr>
          <a:xfrm>
            <a:off x="9493589" y="2645989"/>
            <a:ext cx="17193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Arıza kaydı</a:t>
            </a:r>
          </a:p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5.981 kullanılamaz hat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12EDE0C3-F193-4562-0124-94DBA0440751}"/>
              </a:ext>
            </a:extLst>
          </p:cNvPr>
          <p:cNvSpPr txBox="1"/>
          <p:nvPr/>
        </p:nvSpPr>
        <p:spPr>
          <a:xfrm>
            <a:off x="728662" y="3356987"/>
            <a:ext cx="105219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2600"/>
              </a:buClr>
              <a:buFont typeface="Sistem Fontu Normal"/>
              <a:buChar char="→"/>
            </a:pPr>
            <a:r>
              <a:rPr lang="tr-TR" dirty="0">
                <a:latin typeface="Helvetica" pitchFamily="2" charset="0"/>
              </a:rPr>
              <a:t>Su, kaynaklardan arıtma tesislerine, oradan terfi merkezleri ve iletim hatlarıyla depolara, depolardan da tüketim bölgelerine ulaşır.</a:t>
            </a:r>
          </a:p>
          <a:p>
            <a:pPr marL="285750" indent="-285750">
              <a:buClr>
                <a:srgbClr val="FF2600"/>
              </a:buClr>
              <a:buFont typeface="Sistem Fontu Normal"/>
              <a:buChar char="→"/>
            </a:pPr>
            <a:endParaRPr lang="tr-TR" dirty="0">
              <a:latin typeface="Helvetica" pitchFamily="2" charset="0"/>
            </a:endParaRPr>
          </a:p>
          <a:p>
            <a:pPr marL="285750" indent="-285750">
              <a:buClr>
                <a:srgbClr val="FF2600"/>
              </a:buClr>
              <a:buFont typeface="Sistem Fontu Normal"/>
              <a:buChar char="→"/>
            </a:pPr>
            <a:r>
              <a:rPr lang="tr-TR" dirty="0">
                <a:latin typeface="Helvetica" pitchFamily="2" charset="0"/>
              </a:rPr>
              <a:t>Her adımda karar var: hangi kaynak açılacak, hangi pompa çalışacak, su hangi güzergahtan gidecek, depo doldurulacak mı boşaltılacak mı?</a:t>
            </a:r>
          </a:p>
          <a:p>
            <a:pPr marL="285750" indent="-285750">
              <a:buClr>
                <a:srgbClr val="FF2600"/>
              </a:buClr>
              <a:buFont typeface="Sistem Fontu Normal"/>
              <a:buChar char="→"/>
            </a:pPr>
            <a:endParaRPr lang="tr-TR" dirty="0">
              <a:latin typeface="Helvetica" pitchFamily="2" charset="0"/>
            </a:endParaRPr>
          </a:p>
          <a:p>
            <a:pPr marL="285750" indent="-285750">
              <a:buClr>
                <a:srgbClr val="FF2600"/>
              </a:buClr>
              <a:buFont typeface="Sistem Fontu Normal"/>
              <a:buChar char="→"/>
            </a:pPr>
            <a:r>
              <a:rPr lang="tr-TR" dirty="0">
                <a:latin typeface="Helvetica" pitchFamily="2" charset="0"/>
              </a:rPr>
              <a:t>Kararlar birbirine bağlı. Bir pompayı kapatmak, üç ilçe ötede bir deponun kritik seviyenin altına düşmesine yol açabilir.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D61A411-8B42-4C58-6D0B-D8129A128AA1}"/>
              </a:ext>
            </a:extLst>
          </p:cNvPr>
          <p:cNvSpPr txBox="1"/>
          <p:nvPr/>
        </p:nvSpPr>
        <p:spPr>
          <a:xfrm>
            <a:off x="5303074" y="1863996"/>
            <a:ext cx="167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FF2600"/>
                </a:solidFill>
                <a:latin typeface="Helvetica" pitchFamily="2" charset="0"/>
              </a:rPr>
              <a:t>83.709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Metin kutusu 22">
                <a:extLst>
                  <a:ext uri="{FF2B5EF4-FFF2-40B4-BE49-F238E27FC236}">
                    <a16:creationId xmlns:a16="http://schemas.microsoft.com/office/drawing/2014/main" id="{B9509D35-E37C-1832-251C-769BD2CF4998}"/>
                  </a:ext>
                </a:extLst>
              </p:cNvPr>
              <p:cNvSpPr txBox="1"/>
              <p:nvPr/>
            </p:nvSpPr>
            <p:spPr>
              <a:xfrm>
                <a:off x="5353873" y="2665947"/>
                <a:ext cx="133711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tr-T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tr-TR" sz="11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tr-TR" sz="11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tr-TR" sz="11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tr-TR" sz="1100" b="0" i="0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sa</m:t>
                        </m:r>
                      </m:den>
                    </m:f>
                    <m:r>
                      <a:rPr lang="tr-TR" sz="11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sz="1100" dirty="0">
                    <a:solidFill>
                      <a:schemeClr val="bg1">
                        <a:lumMod val="50000"/>
                      </a:schemeClr>
                    </a:solidFill>
                    <a:latin typeface="Helvetica" pitchFamily="2" charset="0"/>
                  </a:rPr>
                  <a:t>fiziksel </a:t>
                </a:r>
              </a:p>
              <a:p>
                <a:r>
                  <a:rPr lang="tr-TR" sz="1100" dirty="0">
                    <a:solidFill>
                      <a:schemeClr val="bg1">
                        <a:lumMod val="50000"/>
                      </a:schemeClr>
                    </a:solidFill>
                    <a:latin typeface="Helvetica" pitchFamily="2" charset="0"/>
                  </a:rPr>
                  <a:t>kaynak kapasitesi</a:t>
                </a:r>
              </a:p>
            </p:txBody>
          </p:sp>
        </mc:Choice>
        <mc:Fallback xmlns="">
          <p:sp>
            <p:nvSpPr>
              <p:cNvPr id="23" name="Metin kutusu 22">
                <a:extLst>
                  <a:ext uri="{FF2B5EF4-FFF2-40B4-BE49-F238E27FC236}">
                    <a16:creationId xmlns:a16="http://schemas.microsoft.com/office/drawing/2014/main" id="{B9509D35-E37C-1832-251C-769BD2CF4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873" y="2665947"/>
                <a:ext cx="1337112" cy="430887"/>
              </a:xfrm>
              <a:prstGeom prst="rect">
                <a:avLst/>
              </a:prstGeom>
              <a:blipFill>
                <a:blip r:embed="rId8"/>
                <a:stretch>
                  <a:fillRect t="-57143" b="-4857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Resim 7" descr="Download D-Wave Systems Logo in SVG Vector or PNG File Format - Logo.wine">
            <a:extLst>
              <a:ext uri="{FF2B5EF4-FFF2-40B4-BE49-F238E27FC236}">
                <a16:creationId xmlns:a16="http://schemas.microsoft.com/office/drawing/2014/main" id="{A5C8D141-12F5-9D7E-E0C3-4D62F62588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3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75B50-BAA0-A56D-B6EB-794A3A73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183F23D9-4B1E-1E60-E504-FAA1574917EC}"/>
              </a:ext>
            </a:extLst>
          </p:cNvPr>
          <p:cNvSpPr txBox="1"/>
          <p:nvPr/>
        </p:nvSpPr>
        <p:spPr>
          <a:xfrm>
            <a:off x="4582135" y="580139"/>
            <a:ext cx="22932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NEDEN ZOR?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6DDBEF3A-AA4D-B4FE-D0CC-7182B77F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5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612F2DD8-0637-4145-D8D5-BC39DBB7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77928BB2-9E67-7E42-F546-964663D0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1D13D0AB-801D-A246-E375-00B23165D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2870089-BCD2-F9FA-6E00-9C8D2224F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DC6D5EC6-83B9-604E-06B8-33BC9B8B2C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DFD6877D-C471-3263-ADB7-31CA160595F3}"/>
              </a:ext>
            </a:extLst>
          </p:cNvPr>
          <p:cNvSpPr txBox="1"/>
          <p:nvPr/>
        </p:nvSpPr>
        <p:spPr>
          <a:xfrm>
            <a:off x="775335" y="1694019"/>
            <a:ext cx="10734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Karar uzayı kaba kuvvetle (</a:t>
            </a:r>
            <a:r>
              <a:rPr lang="tr-TR" sz="2400" b="1" dirty="0">
                <a:solidFill>
                  <a:srgbClr val="000000"/>
                </a:solidFill>
                <a:latin typeface="Helvetica" pitchFamily="2" charset="0"/>
              </a:rPr>
              <a:t>B</a:t>
            </a:r>
            <a:r>
              <a:rPr lang="tr-TR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rute </a:t>
            </a:r>
            <a:r>
              <a:rPr lang="tr-TR" sz="2400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force</a:t>
            </a:r>
            <a:r>
              <a:rPr lang="tr-TR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) taranamaz</a:t>
            </a:r>
            <a:endParaRPr lang="tr-TR" sz="2400" b="1" dirty="0">
              <a:latin typeface="Helvetica" pitchFamily="2" charset="0"/>
            </a:endParaRPr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3AA526EA-9102-B57B-28A1-1F2CCAB4CCEE}"/>
              </a:ext>
            </a:extLst>
          </p:cNvPr>
          <p:cNvSpPr/>
          <p:nvPr/>
        </p:nvSpPr>
        <p:spPr>
          <a:xfrm>
            <a:off x="1097985" y="2806413"/>
            <a:ext cx="4699490" cy="2236909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9177D900-679A-CE2E-1322-651170693A0D}"/>
                  </a:ext>
                </a:extLst>
              </p:cNvPr>
              <p:cNvSpPr txBox="1"/>
              <p:nvPr/>
            </p:nvSpPr>
            <p:spPr>
              <a:xfrm>
                <a:off x="1497481" y="3540148"/>
                <a:ext cx="159203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tr-T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tr-TR" sz="4400" b="0" i="1" smtClean="0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2.021</m:t>
                          </m:r>
                        </m:sup>
                      </m:sSup>
                    </m:oMath>
                  </m:oMathPara>
                </a14:m>
                <a:endParaRPr lang="tr-TR" sz="2800" dirty="0"/>
              </a:p>
            </p:txBody>
          </p:sp>
        </mc:Choice>
        <mc:Fallback xmlns="">
          <p:sp>
            <p:nvSpPr>
              <p:cNvPr id="15" name="Metin kutusu 14">
                <a:extLst>
                  <a:ext uri="{FF2B5EF4-FFF2-40B4-BE49-F238E27FC236}">
                    <a16:creationId xmlns:a16="http://schemas.microsoft.com/office/drawing/2014/main" id="{9177D900-679A-CE2E-1322-651170693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81" y="3540148"/>
                <a:ext cx="1592038" cy="769441"/>
              </a:xfrm>
              <a:prstGeom prst="rect">
                <a:avLst/>
              </a:prstGeom>
              <a:blipFill>
                <a:blip r:embed="rId7"/>
                <a:stretch>
                  <a:fillRect l="-555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Metin kutusu 18">
                <a:extLst>
                  <a:ext uri="{FF2B5EF4-FFF2-40B4-BE49-F238E27FC236}">
                    <a16:creationId xmlns:a16="http://schemas.microsoft.com/office/drawing/2014/main" id="{64604E5D-063E-95B7-894F-2AB479C9A9AF}"/>
                  </a:ext>
                </a:extLst>
              </p:cNvPr>
              <p:cNvSpPr txBox="1"/>
              <p:nvPr/>
            </p:nvSpPr>
            <p:spPr>
              <a:xfrm>
                <a:off x="1579424" y="4504699"/>
                <a:ext cx="839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tr-TR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tr-TR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tr-TR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608</m:t>
                          </m:r>
                        </m:sup>
                      </m:sSup>
                    </m:oMath>
                  </m:oMathPara>
                </a14:m>
                <a:endParaRPr lang="tr-TR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Metin kutusu 18">
                <a:extLst>
                  <a:ext uri="{FF2B5EF4-FFF2-40B4-BE49-F238E27FC236}">
                    <a16:creationId xmlns:a16="http://schemas.microsoft.com/office/drawing/2014/main" id="{64604E5D-063E-95B7-894F-2AB479C9A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424" y="4504699"/>
                <a:ext cx="839910" cy="276999"/>
              </a:xfrm>
              <a:prstGeom prst="rect">
                <a:avLst/>
              </a:prstGeom>
              <a:blipFill>
                <a:blip r:embed="rId8"/>
                <a:stretch>
                  <a:fillRect l="-2985" t="-4348" r="-2985" b="-434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Metin kutusu 23">
            <a:extLst>
              <a:ext uri="{FF2B5EF4-FFF2-40B4-BE49-F238E27FC236}">
                <a16:creationId xmlns:a16="http://schemas.microsoft.com/office/drawing/2014/main" id="{FC1F3300-FDF1-1BEE-30D4-BF69A7973DAA}"/>
              </a:ext>
            </a:extLst>
          </p:cNvPr>
          <p:cNvSpPr txBox="1"/>
          <p:nvPr/>
        </p:nvSpPr>
        <p:spPr>
          <a:xfrm>
            <a:off x="2626013" y="4458532"/>
            <a:ext cx="245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>
                    <a:lumMod val="95000"/>
                  </a:schemeClr>
                </a:solidFill>
              </a:rPr>
              <a:t>olası aç/kapa bileşimi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02714D22-7A4C-B070-6F89-AECFA2FFC491}"/>
              </a:ext>
            </a:extLst>
          </p:cNvPr>
          <p:cNvSpPr txBox="1"/>
          <p:nvPr/>
        </p:nvSpPr>
        <p:spPr>
          <a:xfrm>
            <a:off x="1497481" y="2955358"/>
            <a:ext cx="3119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>
                <a:solidFill>
                  <a:schemeClr val="bg1">
                    <a:lumMod val="95000"/>
                  </a:schemeClr>
                </a:solidFill>
              </a:rPr>
              <a:t>1800 Pompa + 221 Kaynak</a:t>
            </a:r>
          </a:p>
        </p:txBody>
      </p:sp>
      <p:sp>
        <p:nvSpPr>
          <p:cNvPr id="27" name="Yuvarlatılmış Dikdörtgen 26">
            <a:extLst>
              <a:ext uri="{FF2B5EF4-FFF2-40B4-BE49-F238E27FC236}">
                <a16:creationId xmlns:a16="http://schemas.microsoft.com/office/drawing/2014/main" id="{493EE966-A852-E947-AD29-E9F7FE2FA26F}"/>
              </a:ext>
            </a:extLst>
          </p:cNvPr>
          <p:cNvSpPr/>
          <p:nvPr/>
        </p:nvSpPr>
        <p:spPr>
          <a:xfrm>
            <a:off x="6004154" y="2806412"/>
            <a:ext cx="4699490" cy="975193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ED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28" name="Yuvarlatılmış Dikdörtgen 27">
            <a:extLst>
              <a:ext uri="{FF2B5EF4-FFF2-40B4-BE49-F238E27FC236}">
                <a16:creationId xmlns:a16="http://schemas.microsoft.com/office/drawing/2014/main" id="{A6B324F8-2CC7-8EE2-6B84-589A37D47449}"/>
              </a:ext>
            </a:extLst>
          </p:cNvPr>
          <p:cNvSpPr/>
          <p:nvPr/>
        </p:nvSpPr>
        <p:spPr>
          <a:xfrm>
            <a:off x="6004154" y="4068129"/>
            <a:ext cx="4699490" cy="975193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ED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D437DD17-D40A-98B3-A4B6-1D4035CC90AA}"/>
              </a:ext>
            </a:extLst>
          </p:cNvPr>
          <p:cNvSpPr txBox="1"/>
          <p:nvPr/>
        </p:nvSpPr>
        <p:spPr>
          <a:xfrm>
            <a:off x="6130723" y="2955358"/>
            <a:ext cx="2608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latin typeface="Helvetica" pitchFamily="2" charset="0"/>
              </a:rPr>
              <a:t>Karşılaştırma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60C5DCCA-D3F7-54F1-4B2E-F9CF96AE9C82}"/>
              </a:ext>
            </a:extLst>
          </p:cNvPr>
          <p:cNvSpPr txBox="1"/>
          <p:nvPr/>
        </p:nvSpPr>
        <p:spPr>
          <a:xfrm>
            <a:off x="6130723" y="3252716"/>
            <a:ext cx="4572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/>
              <a:t>Gözlemlenebilir evrendeki tahmini atom sayısı ≈ 10⁸⁰.</a:t>
            </a:r>
          </a:p>
          <a:p>
            <a:pPr marL="0" marR="0">
              <a:buNone/>
            </a:pPr>
            <a:r>
              <a:rPr lang="tr-TR" sz="1400" dirty="0"/>
              <a:t>Karar uzayı bunun kat kat üzerinde.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222DCFC0-E237-37D4-DD6A-AF05732C90D8}"/>
              </a:ext>
            </a:extLst>
          </p:cNvPr>
          <p:cNvSpPr txBox="1"/>
          <p:nvPr/>
        </p:nvSpPr>
        <p:spPr>
          <a:xfrm>
            <a:off x="6177397" y="4222240"/>
            <a:ext cx="1485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Şebeke Boyutu</a:t>
            </a:r>
            <a:endParaRPr lang="tr-TR" sz="1600" b="1" dirty="0">
              <a:solidFill>
                <a:srgbClr val="0D2232"/>
              </a:solidFill>
              <a:latin typeface="Helvetica" pitchFamily="2" charset="0"/>
            </a:endParaRP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AEA2402E-CFDE-3969-9BE7-D2A618CB729F}"/>
              </a:ext>
            </a:extLst>
          </p:cNvPr>
          <p:cNvSpPr txBox="1"/>
          <p:nvPr/>
        </p:nvSpPr>
        <p:spPr>
          <a:xfrm>
            <a:off x="6177397" y="4525060"/>
            <a:ext cx="4572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/>
              <a:t>7.141 düğüm -  45.702 ark</a:t>
            </a:r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76578576-F743-976E-D3F8-711A980CF8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2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60531-AF96-4C3C-0979-0AB0D0F8C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C89CAEFB-B3CB-95FB-1A42-FDA06678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6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87724DF3-E51D-11EE-0D23-8803F6F9F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856" y="221851"/>
            <a:ext cx="700785" cy="802841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BFE89F7C-BD6D-F1DC-DF8C-13E60AB5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66" y="143046"/>
            <a:ext cx="867422" cy="86742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578225A-7961-B21F-D8B0-4FC246642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160" y="5966738"/>
            <a:ext cx="751571" cy="891261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2C5D7C51-8C1E-F432-E980-DDFBB6A49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321" y="6105106"/>
            <a:ext cx="1137776" cy="639999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52A4DFA1-2993-E277-E162-3CA91363D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966739"/>
            <a:ext cx="723650" cy="89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9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6D42-DCBE-C2DE-1C0B-D2D90071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1EB4B928-7FF3-7868-CB8B-BD9D4F90088F}"/>
              </a:ext>
            </a:extLst>
          </p:cNvPr>
          <p:cNvSpPr txBox="1"/>
          <p:nvPr/>
        </p:nvSpPr>
        <p:spPr>
          <a:xfrm>
            <a:off x="4582135" y="580139"/>
            <a:ext cx="2432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ŞEBEKE AKIŞI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1533A344-7983-6E0D-3AFA-34BAE409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7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D04A6062-28B3-78D2-23F4-192B85E8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BCA08670-5561-FB4F-51F7-C8A0B968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F3124527-78E8-4506-54CF-E1CA9096D6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C99283B-5ECF-07BB-8ED4-DC8534220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25095B8F-631C-425D-C61C-303538AA04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7" name="Yuvarlatılmış Dikdörtgen 6">
            <a:extLst>
              <a:ext uri="{FF2B5EF4-FFF2-40B4-BE49-F238E27FC236}">
                <a16:creationId xmlns:a16="http://schemas.microsoft.com/office/drawing/2014/main" id="{2B904051-7870-CA11-CBE8-90240DE0090D}"/>
              </a:ext>
            </a:extLst>
          </p:cNvPr>
          <p:cNvSpPr/>
          <p:nvPr/>
        </p:nvSpPr>
        <p:spPr>
          <a:xfrm>
            <a:off x="682316" y="2236576"/>
            <a:ext cx="1973315" cy="2998075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>
              <a:solidFill>
                <a:srgbClr val="0D2231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50B5406-448A-956F-C716-05DA41F8735D}"/>
              </a:ext>
            </a:extLst>
          </p:cNvPr>
          <p:cNvSpPr txBox="1"/>
          <p:nvPr/>
        </p:nvSpPr>
        <p:spPr>
          <a:xfrm>
            <a:off x="789141" y="2373756"/>
            <a:ext cx="1106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rgbClr val="FF2600"/>
                </a:solidFill>
                <a:latin typeface="Helvetica" pitchFamily="2" charset="0"/>
              </a:rPr>
              <a:t>221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1194E8C-8646-1429-B121-D958355B29AE}"/>
              </a:ext>
            </a:extLst>
          </p:cNvPr>
          <p:cNvSpPr txBox="1"/>
          <p:nvPr/>
        </p:nvSpPr>
        <p:spPr>
          <a:xfrm>
            <a:off x="854365" y="2934371"/>
            <a:ext cx="1195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chemeClr val="bg1"/>
                </a:solidFill>
              </a:rPr>
              <a:t>Kaynaklar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032E241-496E-FD75-554D-E2BCBE6E00AE}"/>
              </a:ext>
            </a:extLst>
          </p:cNvPr>
          <p:cNvSpPr txBox="1"/>
          <p:nvPr/>
        </p:nvSpPr>
        <p:spPr>
          <a:xfrm>
            <a:off x="865901" y="3223148"/>
            <a:ext cx="1501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solidFill>
                  <a:schemeClr val="bg1">
                    <a:lumMod val="85000"/>
                  </a:schemeClr>
                </a:solidFill>
              </a:rPr>
              <a:t>Şebekeye suyun girdiği tüm noktalar</a:t>
            </a:r>
          </a:p>
        </p:txBody>
      </p:sp>
      <p:cxnSp>
        <p:nvCxnSpPr>
          <p:cNvPr id="16" name="Düz Bağlayıcı 15">
            <a:extLst>
              <a:ext uri="{FF2B5EF4-FFF2-40B4-BE49-F238E27FC236}">
                <a16:creationId xmlns:a16="http://schemas.microsoft.com/office/drawing/2014/main" id="{F8283A6D-A5CA-FBD5-41B4-3E61B07023C6}"/>
              </a:ext>
            </a:extLst>
          </p:cNvPr>
          <p:cNvCxnSpPr>
            <a:cxnSpLocks/>
          </p:cNvCxnSpPr>
          <p:nvPr/>
        </p:nvCxnSpPr>
        <p:spPr>
          <a:xfrm>
            <a:off x="960968" y="3822700"/>
            <a:ext cx="14062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894E1DC8-08E4-5B32-92C4-D0C5FF155084}"/>
              </a:ext>
            </a:extLst>
          </p:cNvPr>
          <p:cNvSpPr txBox="1"/>
          <p:nvPr/>
        </p:nvSpPr>
        <p:spPr>
          <a:xfrm>
            <a:off x="865901" y="4036068"/>
            <a:ext cx="1501328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40 fiziksel kaynak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2F24F59E-A914-F863-A092-405BE1A11563}"/>
              </a:ext>
            </a:extLst>
          </p:cNvPr>
          <p:cNvSpPr txBox="1"/>
          <p:nvPr/>
        </p:nvSpPr>
        <p:spPr>
          <a:xfrm>
            <a:off x="854364" y="4313066"/>
            <a:ext cx="178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129 acil yedek kaynak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992AA8E8-CD07-671B-5195-D00985EA57F2}"/>
              </a:ext>
            </a:extLst>
          </p:cNvPr>
          <p:cNvSpPr txBox="1"/>
          <p:nvPr/>
        </p:nvSpPr>
        <p:spPr>
          <a:xfrm>
            <a:off x="854365" y="4644828"/>
            <a:ext cx="178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52 yeni eklenmiş kaynak</a:t>
            </a:r>
          </a:p>
        </p:txBody>
      </p:sp>
      <p:sp>
        <p:nvSpPr>
          <p:cNvPr id="23" name="Yuvarlatılmış Dikdörtgen 22">
            <a:extLst>
              <a:ext uri="{FF2B5EF4-FFF2-40B4-BE49-F238E27FC236}">
                <a16:creationId xmlns:a16="http://schemas.microsoft.com/office/drawing/2014/main" id="{6A159257-8D5B-F9F2-3B7B-88672F9FEEDC}"/>
              </a:ext>
            </a:extLst>
          </p:cNvPr>
          <p:cNvSpPr/>
          <p:nvPr/>
        </p:nvSpPr>
        <p:spPr>
          <a:xfrm>
            <a:off x="2979803" y="2236576"/>
            <a:ext cx="1850369" cy="2998075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5DDDAF35-062F-65BE-18F7-C1535B80FFAC}"/>
              </a:ext>
            </a:extLst>
          </p:cNvPr>
          <p:cNvSpPr txBox="1"/>
          <p:nvPr/>
        </p:nvSpPr>
        <p:spPr>
          <a:xfrm>
            <a:off x="3152443" y="2373756"/>
            <a:ext cx="767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rgbClr val="FF2600"/>
                </a:solidFill>
                <a:latin typeface="Helvetica" pitchFamily="2" charset="0"/>
              </a:rPr>
              <a:t>10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1B5FC6B7-00F3-9577-2DE6-196AB1E9299D}"/>
              </a:ext>
            </a:extLst>
          </p:cNvPr>
          <p:cNvSpPr txBox="1"/>
          <p:nvPr/>
        </p:nvSpPr>
        <p:spPr>
          <a:xfrm>
            <a:off x="3152443" y="2915371"/>
            <a:ext cx="1429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chemeClr val="bg1"/>
                </a:solidFill>
              </a:rPr>
              <a:t>Arıtma tesisleri</a:t>
            </a:r>
          </a:p>
        </p:txBody>
      </p:sp>
      <p:sp>
        <p:nvSpPr>
          <p:cNvPr id="38" name="Metin kutusu 37">
            <a:extLst>
              <a:ext uri="{FF2B5EF4-FFF2-40B4-BE49-F238E27FC236}">
                <a16:creationId xmlns:a16="http://schemas.microsoft.com/office/drawing/2014/main" id="{DEB6B43D-5BF4-3663-D122-9B35586DF044}"/>
              </a:ext>
            </a:extLst>
          </p:cNvPr>
          <p:cNvSpPr txBox="1"/>
          <p:nvPr/>
        </p:nvSpPr>
        <p:spPr>
          <a:xfrm>
            <a:off x="3154323" y="3242148"/>
            <a:ext cx="1501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solidFill>
                  <a:schemeClr val="bg1">
                    <a:lumMod val="85000"/>
                  </a:schemeClr>
                </a:solidFill>
              </a:rPr>
              <a:t>Ham suyun içilebilir hale geldiği yer</a:t>
            </a:r>
          </a:p>
        </p:txBody>
      </p:sp>
      <p:cxnSp>
        <p:nvCxnSpPr>
          <p:cNvPr id="39" name="Düz Bağlayıcı 38">
            <a:extLst>
              <a:ext uri="{FF2B5EF4-FFF2-40B4-BE49-F238E27FC236}">
                <a16:creationId xmlns:a16="http://schemas.microsoft.com/office/drawing/2014/main" id="{6DB9385B-6F75-C5A3-1C15-DE1F745F7713}"/>
              </a:ext>
            </a:extLst>
          </p:cNvPr>
          <p:cNvCxnSpPr>
            <a:cxnSpLocks/>
          </p:cNvCxnSpPr>
          <p:nvPr/>
        </p:nvCxnSpPr>
        <p:spPr>
          <a:xfrm>
            <a:off x="3201857" y="3822700"/>
            <a:ext cx="14062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Metin kutusu 39">
            <a:extLst>
              <a:ext uri="{FF2B5EF4-FFF2-40B4-BE49-F238E27FC236}">
                <a16:creationId xmlns:a16="http://schemas.microsoft.com/office/drawing/2014/main" id="{0AA1CF8F-0D1E-9B54-CEE0-BBF3195EC406}"/>
              </a:ext>
            </a:extLst>
          </p:cNvPr>
          <p:cNvSpPr txBox="1"/>
          <p:nvPr/>
        </p:nvSpPr>
        <p:spPr>
          <a:xfrm>
            <a:off x="2970257" y="4036067"/>
            <a:ext cx="1859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12 doğal kaynak/baraj besleme yapar</a:t>
            </a:r>
          </a:p>
        </p:txBody>
      </p:sp>
      <p:sp>
        <p:nvSpPr>
          <p:cNvPr id="41" name="Yuvarlatılmış Dikdörtgen 40">
            <a:extLst>
              <a:ext uri="{FF2B5EF4-FFF2-40B4-BE49-F238E27FC236}">
                <a16:creationId xmlns:a16="http://schemas.microsoft.com/office/drawing/2014/main" id="{6C86BFA8-D1B3-2091-FF23-FA7D1E422F71}"/>
              </a:ext>
            </a:extLst>
          </p:cNvPr>
          <p:cNvSpPr/>
          <p:nvPr/>
        </p:nvSpPr>
        <p:spPr>
          <a:xfrm>
            <a:off x="5154344" y="2236576"/>
            <a:ext cx="1850369" cy="2998075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E320C750-C036-6F8C-7FB2-7E80EB9399C1}"/>
              </a:ext>
            </a:extLst>
          </p:cNvPr>
          <p:cNvSpPr txBox="1"/>
          <p:nvPr/>
        </p:nvSpPr>
        <p:spPr>
          <a:xfrm>
            <a:off x="5326984" y="2373756"/>
            <a:ext cx="1289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rgbClr val="FF2600"/>
                </a:solidFill>
                <a:latin typeface="Helvetica" pitchFamily="2" charset="0"/>
              </a:rPr>
              <a:t>1800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AF15EB36-A636-91E1-EF91-B04FD2D75527}"/>
              </a:ext>
            </a:extLst>
          </p:cNvPr>
          <p:cNvSpPr txBox="1"/>
          <p:nvPr/>
        </p:nvSpPr>
        <p:spPr>
          <a:xfrm>
            <a:off x="5326984" y="2915371"/>
            <a:ext cx="1429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chemeClr val="bg1"/>
                </a:solidFill>
              </a:rPr>
              <a:t>Terfi merkezleri</a:t>
            </a:r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41416026-35D6-C1DA-8C20-37211FF3DCFB}"/>
              </a:ext>
            </a:extLst>
          </p:cNvPr>
          <p:cNvSpPr txBox="1"/>
          <p:nvPr/>
        </p:nvSpPr>
        <p:spPr>
          <a:xfrm>
            <a:off x="5328863" y="3242148"/>
            <a:ext cx="1546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solidFill>
                  <a:schemeClr val="bg1">
                    <a:lumMod val="85000"/>
                  </a:schemeClr>
                </a:solidFill>
              </a:rPr>
              <a:t>Suyu basınçlandırıp ileri taşıyan pompalar</a:t>
            </a:r>
          </a:p>
        </p:txBody>
      </p:sp>
      <p:cxnSp>
        <p:nvCxnSpPr>
          <p:cNvPr id="45" name="Düz Bağlayıcı 44">
            <a:extLst>
              <a:ext uri="{FF2B5EF4-FFF2-40B4-BE49-F238E27FC236}">
                <a16:creationId xmlns:a16="http://schemas.microsoft.com/office/drawing/2014/main" id="{E4A066FD-4649-8288-ADCE-A8051842EBF2}"/>
              </a:ext>
            </a:extLst>
          </p:cNvPr>
          <p:cNvCxnSpPr>
            <a:cxnSpLocks/>
          </p:cNvCxnSpPr>
          <p:nvPr/>
        </p:nvCxnSpPr>
        <p:spPr>
          <a:xfrm>
            <a:off x="5376398" y="3822700"/>
            <a:ext cx="14062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7D6DB561-DF7E-54E8-EF8E-DEEB5E41CFC6}"/>
              </a:ext>
            </a:extLst>
          </p:cNvPr>
          <p:cNvSpPr txBox="1"/>
          <p:nvPr/>
        </p:nvSpPr>
        <p:spPr>
          <a:xfrm>
            <a:off x="5163888" y="4036067"/>
            <a:ext cx="185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120 kaynak çıkışında</a:t>
            </a:r>
          </a:p>
        </p:txBody>
      </p:sp>
      <p:sp>
        <p:nvSpPr>
          <p:cNvPr id="47" name="Yuvarlatılmış Dikdörtgen 46">
            <a:extLst>
              <a:ext uri="{FF2B5EF4-FFF2-40B4-BE49-F238E27FC236}">
                <a16:creationId xmlns:a16="http://schemas.microsoft.com/office/drawing/2014/main" id="{2661E9E6-0957-0EE4-3EC7-1C4D12CAF9BD}"/>
              </a:ext>
            </a:extLst>
          </p:cNvPr>
          <p:cNvSpPr/>
          <p:nvPr/>
        </p:nvSpPr>
        <p:spPr>
          <a:xfrm>
            <a:off x="7328885" y="2236576"/>
            <a:ext cx="1850369" cy="2998075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63AD935B-38BD-0C69-A68A-60EE72BA81DC}"/>
              </a:ext>
            </a:extLst>
          </p:cNvPr>
          <p:cNvSpPr txBox="1"/>
          <p:nvPr/>
        </p:nvSpPr>
        <p:spPr>
          <a:xfrm>
            <a:off x="7501525" y="2373756"/>
            <a:ext cx="1109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rgbClr val="FF2600"/>
                </a:solidFill>
                <a:latin typeface="Helvetica" pitchFamily="2" charset="0"/>
              </a:rPr>
              <a:t>520</a:t>
            </a:r>
          </a:p>
        </p:txBody>
      </p:sp>
      <p:sp>
        <p:nvSpPr>
          <p:cNvPr id="49" name="Metin kutusu 48">
            <a:extLst>
              <a:ext uri="{FF2B5EF4-FFF2-40B4-BE49-F238E27FC236}">
                <a16:creationId xmlns:a16="http://schemas.microsoft.com/office/drawing/2014/main" id="{872D4ED6-9E2A-2998-4C05-160050CA6E90}"/>
              </a:ext>
            </a:extLst>
          </p:cNvPr>
          <p:cNvSpPr txBox="1"/>
          <p:nvPr/>
        </p:nvSpPr>
        <p:spPr>
          <a:xfrm>
            <a:off x="7501525" y="2915371"/>
            <a:ext cx="1429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chemeClr val="bg1"/>
                </a:solidFill>
              </a:rPr>
              <a:t>Depolar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F4764195-AAD6-B8BD-2519-AD9C137E0766}"/>
              </a:ext>
            </a:extLst>
          </p:cNvPr>
          <p:cNvSpPr txBox="1"/>
          <p:nvPr/>
        </p:nvSpPr>
        <p:spPr>
          <a:xfrm>
            <a:off x="7503405" y="3242148"/>
            <a:ext cx="1501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solidFill>
                  <a:schemeClr val="bg1">
                    <a:lumMod val="85000"/>
                  </a:schemeClr>
                </a:solidFill>
              </a:rPr>
              <a:t>Arzı talebe göre dengeleyen tampon</a:t>
            </a:r>
          </a:p>
        </p:txBody>
      </p:sp>
      <p:cxnSp>
        <p:nvCxnSpPr>
          <p:cNvPr id="51" name="Düz Bağlayıcı 50">
            <a:extLst>
              <a:ext uri="{FF2B5EF4-FFF2-40B4-BE49-F238E27FC236}">
                <a16:creationId xmlns:a16="http://schemas.microsoft.com/office/drawing/2014/main" id="{107418A3-AB40-41BF-0041-C9AFB0502285}"/>
              </a:ext>
            </a:extLst>
          </p:cNvPr>
          <p:cNvCxnSpPr>
            <a:cxnSpLocks/>
          </p:cNvCxnSpPr>
          <p:nvPr/>
        </p:nvCxnSpPr>
        <p:spPr>
          <a:xfrm>
            <a:off x="7550939" y="3822700"/>
            <a:ext cx="14062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Metin kutusu 51">
            <a:extLst>
              <a:ext uri="{FF2B5EF4-FFF2-40B4-BE49-F238E27FC236}">
                <a16:creationId xmlns:a16="http://schemas.microsoft.com/office/drawing/2014/main" id="{F1E58BFB-76E1-ABA2-F1EF-4970304A65D5}"/>
              </a:ext>
            </a:extLst>
          </p:cNvPr>
          <p:cNvSpPr txBox="1"/>
          <p:nvPr/>
        </p:nvSpPr>
        <p:spPr>
          <a:xfrm>
            <a:off x="7328883" y="4036067"/>
            <a:ext cx="185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%60 başlangıç doluluk oranı</a:t>
            </a:r>
          </a:p>
        </p:txBody>
      </p:sp>
      <p:sp>
        <p:nvSpPr>
          <p:cNvPr id="53" name="Metin kutusu 52">
            <a:extLst>
              <a:ext uri="{FF2B5EF4-FFF2-40B4-BE49-F238E27FC236}">
                <a16:creationId xmlns:a16="http://schemas.microsoft.com/office/drawing/2014/main" id="{FBBD1887-6306-57EE-26C9-5C64B0060EF8}"/>
              </a:ext>
            </a:extLst>
          </p:cNvPr>
          <p:cNvSpPr txBox="1"/>
          <p:nvPr/>
        </p:nvSpPr>
        <p:spPr>
          <a:xfrm>
            <a:off x="7328884" y="4497732"/>
            <a:ext cx="185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1260 pompa doğrudan depo girişini besler</a:t>
            </a:r>
          </a:p>
        </p:txBody>
      </p:sp>
      <p:sp>
        <p:nvSpPr>
          <p:cNvPr id="54" name="Metin kutusu 53">
            <a:extLst>
              <a:ext uri="{FF2B5EF4-FFF2-40B4-BE49-F238E27FC236}">
                <a16:creationId xmlns:a16="http://schemas.microsoft.com/office/drawing/2014/main" id="{5F46A946-669E-ABD1-F6A1-B71FCAAD81C4}"/>
              </a:ext>
            </a:extLst>
          </p:cNvPr>
          <p:cNvSpPr txBox="1"/>
          <p:nvPr/>
        </p:nvSpPr>
        <p:spPr>
          <a:xfrm>
            <a:off x="5154338" y="4357061"/>
            <a:ext cx="185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420 ana isale hattında</a:t>
            </a:r>
          </a:p>
        </p:txBody>
      </p:sp>
      <p:sp>
        <p:nvSpPr>
          <p:cNvPr id="55" name="Metin kutusu 54">
            <a:extLst>
              <a:ext uri="{FF2B5EF4-FFF2-40B4-BE49-F238E27FC236}">
                <a16:creationId xmlns:a16="http://schemas.microsoft.com/office/drawing/2014/main" id="{1EA70724-8B92-19C1-BA91-E60ED88671AE}"/>
              </a:ext>
            </a:extLst>
          </p:cNvPr>
          <p:cNvSpPr txBox="1"/>
          <p:nvPr/>
        </p:nvSpPr>
        <p:spPr>
          <a:xfrm>
            <a:off x="5144800" y="4657356"/>
            <a:ext cx="185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1260 depo girişinde</a:t>
            </a:r>
          </a:p>
        </p:txBody>
      </p:sp>
      <p:sp>
        <p:nvSpPr>
          <p:cNvPr id="56" name="Yuvarlatılmış Dikdörtgen 55">
            <a:extLst>
              <a:ext uri="{FF2B5EF4-FFF2-40B4-BE49-F238E27FC236}">
                <a16:creationId xmlns:a16="http://schemas.microsoft.com/office/drawing/2014/main" id="{95AEE93B-D581-7918-63E0-906FF6883167}"/>
              </a:ext>
            </a:extLst>
          </p:cNvPr>
          <p:cNvSpPr/>
          <p:nvPr/>
        </p:nvSpPr>
        <p:spPr>
          <a:xfrm>
            <a:off x="9475730" y="2236576"/>
            <a:ext cx="1850369" cy="2998075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57" name="Metin kutusu 56">
            <a:extLst>
              <a:ext uri="{FF2B5EF4-FFF2-40B4-BE49-F238E27FC236}">
                <a16:creationId xmlns:a16="http://schemas.microsoft.com/office/drawing/2014/main" id="{C7C5E9F1-13E1-99D0-D821-1093354D8129}"/>
              </a:ext>
            </a:extLst>
          </p:cNvPr>
          <p:cNvSpPr txBox="1"/>
          <p:nvPr/>
        </p:nvSpPr>
        <p:spPr>
          <a:xfrm>
            <a:off x="9648370" y="2373756"/>
            <a:ext cx="1109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rgbClr val="FF2600"/>
                </a:solidFill>
                <a:latin typeface="Helvetica" pitchFamily="2" charset="0"/>
              </a:rPr>
              <a:t>600</a:t>
            </a:r>
          </a:p>
        </p:txBody>
      </p:sp>
      <p:sp>
        <p:nvSpPr>
          <p:cNvPr id="58" name="Metin kutusu 57">
            <a:extLst>
              <a:ext uri="{FF2B5EF4-FFF2-40B4-BE49-F238E27FC236}">
                <a16:creationId xmlns:a16="http://schemas.microsoft.com/office/drawing/2014/main" id="{46B393BE-6F36-5CEE-4CC2-973599EB8308}"/>
              </a:ext>
            </a:extLst>
          </p:cNvPr>
          <p:cNvSpPr txBox="1"/>
          <p:nvPr/>
        </p:nvSpPr>
        <p:spPr>
          <a:xfrm>
            <a:off x="9648369" y="2915371"/>
            <a:ext cx="1677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solidFill>
                  <a:schemeClr val="bg1"/>
                </a:solidFill>
              </a:rPr>
              <a:t>Tüketim bölgeleri</a:t>
            </a:r>
          </a:p>
        </p:txBody>
      </p:sp>
      <p:sp>
        <p:nvSpPr>
          <p:cNvPr id="59" name="Metin kutusu 58">
            <a:extLst>
              <a:ext uri="{FF2B5EF4-FFF2-40B4-BE49-F238E27FC236}">
                <a16:creationId xmlns:a16="http://schemas.microsoft.com/office/drawing/2014/main" id="{57CE6815-2359-DC24-717B-47FBA7C9EB75}"/>
              </a:ext>
            </a:extLst>
          </p:cNvPr>
          <p:cNvSpPr txBox="1"/>
          <p:nvPr/>
        </p:nvSpPr>
        <p:spPr>
          <a:xfrm>
            <a:off x="9650250" y="3242148"/>
            <a:ext cx="1501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solidFill>
                  <a:schemeClr val="bg1">
                    <a:lumMod val="85000"/>
                  </a:schemeClr>
                </a:solidFill>
              </a:rPr>
              <a:t>Suyun teslim edildiği son nokta</a:t>
            </a:r>
          </a:p>
        </p:txBody>
      </p:sp>
      <p:cxnSp>
        <p:nvCxnSpPr>
          <p:cNvPr id="60" name="Düz Bağlayıcı 59">
            <a:extLst>
              <a:ext uri="{FF2B5EF4-FFF2-40B4-BE49-F238E27FC236}">
                <a16:creationId xmlns:a16="http://schemas.microsoft.com/office/drawing/2014/main" id="{8C9B6A67-9BE1-2D36-ECE3-D0429261D57D}"/>
              </a:ext>
            </a:extLst>
          </p:cNvPr>
          <p:cNvCxnSpPr>
            <a:cxnSpLocks/>
          </p:cNvCxnSpPr>
          <p:nvPr/>
        </p:nvCxnSpPr>
        <p:spPr>
          <a:xfrm>
            <a:off x="9697784" y="3822700"/>
            <a:ext cx="14062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A3B3E822-A9A2-ABA5-82E3-C529B9814654}"/>
              </a:ext>
            </a:extLst>
          </p:cNvPr>
          <p:cNvSpPr txBox="1"/>
          <p:nvPr/>
        </p:nvSpPr>
        <p:spPr>
          <a:xfrm>
            <a:off x="9475728" y="4036067"/>
            <a:ext cx="185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504 normal talep bölgesi</a:t>
            </a:r>
          </a:p>
        </p:txBody>
      </p:sp>
      <p:sp>
        <p:nvSpPr>
          <p:cNvPr id="62" name="Metin kutusu 61">
            <a:extLst>
              <a:ext uri="{FF2B5EF4-FFF2-40B4-BE49-F238E27FC236}">
                <a16:creationId xmlns:a16="http://schemas.microsoft.com/office/drawing/2014/main" id="{A5CBF8B7-10D8-7F0A-068F-5CE5B71F84B8}"/>
              </a:ext>
            </a:extLst>
          </p:cNvPr>
          <p:cNvSpPr txBox="1"/>
          <p:nvPr/>
        </p:nvSpPr>
        <p:spPr>
          <a:xfrm>
            <a:off x="9475729" y="4497732"/>
            <a:ext cx="185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96 kritik tesis bölgesi</a:t>
            </a:r>
          </a:p>
        </p:txBody>
      </p:sp>
      <p:cxnSp>
        <p:nvCxnSpPr>
          <p:cNvPr id="64" name="Düz Ok Bağlayıcısı 63">
            <a:extLst>
              <a:ext uri="{FF2B5EF4-FFF2-40B4-BE49-F238E27FC236}">
                <a16:creationId xmlns:a16="http://schemas.microsoft.com/office/drawing/2014/main" id="{1EEFC70B-6691-FE3E-59F8-5D9A192FE942}"/>
              </a:ext>
            </a:extLst>
          </p:cNvPr>
          <p:cNvCxnSpPr>
            <a:stCxn id="7" idx="3"/>
            <a:endCxn id="23" idx="1"/>
          </p:cNvCxnSpPr>
          <p:nvPr/>
        </p:nvCxnSpPr>
        <p:spPr>
          <a:xfrm>
            <a:off x="2655631" y="3735614"/>
            <a:ext cx="324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Düz Ok Bağlayıcısı 64">
            <a:extLst>
              <a:ext uri="{FF2B5EF4-FFF2-40B4-BE49-F238E27FC236}">
                <a16:creationId xmlns:a16="http://schemas.microsoft.com/office/drawing/2014/main" id="{CA4FAC88-7492-55E6-AE7B-B6D71D9FCBB9}"/>
              </a:ext>
            </a:extLst>
          </p:cNvPr>
          <p:cNvCxnSpPr>
            <a:cxnSpLocks/>
            <a:stCxn id="23" idx="3"/>
            <a:endCxn id="41" idx="1"/>
          </p:cNvCxnSpPr>
          <p:nvPr/>
        </p:nvCxnSpPr>
        <p:spPr>
          <a:xfrm>
            <a:off x="4830172" y="3735614"/>
            <a:ext cx="324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Düz Ok Bağlayıcısı 67">
            <a:extLst>
              <a:ext uri="{FF2B5EF4-FFF2-40B4-BE49-F238E27FC236}">
                <a16:creationId xmlns:a16="http://schemas.microsoft.com/office/drawing/2014/main" id="{1E853131-D480-9144-D1A1-20A61BE1C4EA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7004713" y="3735614"/>
            <a:ext cx="324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Düz Ok Bağlayıcısı 70">
            <a:extLst>
              <a:ext uri="{FF2B5EF4-FFF2-40B4-BE49-F238E27FC236}">
                <a16:creationId xmlns:a16="http://schemas.microsoft.com/office/drawing/2014/main" id="{1C649B93-7F80-22B3-4DA9-A1AF180CDA89}"/>
              </a:ext>
            </a:extLst>
          </p:cNvPr>
          <p:cNvCxnSpPr>
            <a:cxnSpLocks/>
            <a:stCxn id="47" idx="3"/>
            <a:endCxn id="56" idx="1"/>
          </p:cNvCxnSpPr>
          <p:nvPr/>
        </p:nvCxnSpPr>
        <p:spPr>
          <a:xfrm>
            <a:off x="9179254" y="3735614"/>
            <a:ext cx="2964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Metin kutusu 76">
            <a:extLst>
              <a:ext uri="{FF2B5EF4-FFF2-40B4-BE49-F238E27FC236}">
                <a16:creationId xmlns:a16="http://schemas.microsoft.com/office/drawing/2014/main" id="{BE941AD2-0D0B-B52A-EFCF-F792CB679F9F}"/>
              </a:ext>
            </a:extLst>
          </p:cNvPr>
          <p:cNvSpPr txBox="1"/>
          <p:nvPr/>
        </p:nvSpPr>
        <p:spPr>
          <a:xfrm>
            <a:off x="677289" y="1498428"/>
            <a:ext cx="8758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Su, kaynaktan tüketim bölgelerine beş katmandan geçer</a:t>
            </a:r>
            <a:endParaRPr lang="tr-TR" sz="2400" b="1" dirty="0">
              <a:latin typeface="Helvetica" pitchFamily="2" charset="0"/>
            </a:endParaRPr>
          </a:p>
        </p:txBody>
      </p:sp>
      <p:pic>
        <p:nvPicPr>
          <p:cNvPr id="5" name="Resim 4" descr="Download D-Wave Systems Logo in SVG Vector or PNG File Format - Logo.wine">
            <a:extLst>
              <a:ext uri="{FF2B5EF4-FFF2-40B4-BE49-F238E27FC236}">
                <a16:creationId xmlns:a16="http://schemas.microsoft.com/office/drawing/2014/main" id="{7B1A4829-7E60-FEDD-93E7-FB7393B0E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68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AC184-4396-6132-1567-FA467BB7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8B5BF2F5-3A2D-1F61-0FE2-68E11481DEA8}"/>
              </a:ext>
            </a:extLst>
          </p:cNvPr>
          <p:cNvSpPr txBox="1"/>
          <p:nvPr/>
        </p:nvSpPr>
        <p:spPr>
          <a:xfrm>
            <a:off x="1350335" y="3136612"/>
            <a:ext cx="2498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GÖREVLER</a:t>
            </a: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DF58842D-A8EC-AC92-3A29-F4E12204B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264" y="159537"/>
            <a:ext cx="1137252" cy="1302871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DAD44313-E05D-E3C5-7253-4D73FEB8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3" y="242346"/>
            <a:ext cx="1137252" cy="113725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9EDF27A-0DA2-7FC5-E9FD-F68A1790A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511" y="5679440"/>
            <a:ext cx="993841" cy="117856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5C7E968-D6E7-FD63-0BCB-BFEF58437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735" y="5852033"/>
            <a:ext cx="1504539" cy="846303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7402C647-A2DE-35AD-D9DF-E701413D8F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189" y="5679440"/>
            <a:ext cx="956920" cy="117856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C83FFDE-70FC-D244-1B2B-7B1F7AB674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920" y="5679440"/>
            <a:ext cx="1329728" cy="13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3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B70F-E463-2276-CEAC-643CFD3C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A31AA994-16D3-D69D-B3BE-70B475049429}"/>
              </a:ext>
            </a:extLst>
          </p:cNvPr>
          <p:cNvSpPr txBox="1"/>
          <p:nvPr/>
        </p:nvSpPr>
        <p:spPr>
          <a:xfrm>
            <a:off x="5122531" y="580139"/>
            <a:ext cx="1934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GÖREVLER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31009D99-9A9D-CE2D-F8C2-E4E27735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74119BBB-9D33-CCB0-6110-DB1F3D862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250655F3-D5A1-BF49-D686-8880EE3F1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2E57F733-A78F-679A-DE78-46AA1B1868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9FF9405-916A-7FD0-EBA1-191538F52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D6E4337C-4E82-D9E4-01B4-EDBD96279C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7F14A3E5-0565-104B-5AA7-7AA510E36731}"/>
              </a:ext>
            </a:extLst>
          </p:cNvPr>
          <p:cNvSpPr txBox="1"/>
          <p:nvPr/>
        </p:nvSpPr>
        <p:spPr>
          <a:xfrm>
            <a:off x="865900" y="4382515"/>
            <a:ext cx="178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64 acil yedek kaynak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6AB6EB0E-C4FF-AD37-C49B-36F18A5093E5}"/>
              </a:ext>
            </a:extLst>
          </p:cNvPr>
          <p:cNvSpPr txBox="1"/>
          <p:nvPr/>
        </p:nvSpPr>
        <p:spPr>
          <a:xfrm>
            <a:off x="854365" y="4714277"/>
            <a:ext cx="178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</a:rPr>
              <a:t>30 yeni eklenmiş kaynak</a:t>
            </a:r>
          </a:p>
        </p:txBody>
      </p:sp>
      <p:sp>
        <p:nvSpPr>
          <p:cNvPr id="5" name="Yuvarlatılmış Dikdörtgen 4">
            <a:extLst>
              <a:ext uri="{FF2B5EF4-FFF2-40B4-BE49-F238E27FC236}">
                <a16:creationId xmlns:a16="http://schemas.microsoft.com/office/drawing/2014/main" id="{6471B39A-61F4-CA0E-599C-7872FD6E2F7C}"/>
              </a:ext>
            </a:extLst>
          </p:cNvPr>
          <p:cNvSpPr/>
          <p:nvPr/>
        </p:nvSpPr>
        <p:spPr>
          <a:xfrm>
            <a:off x="865900" y="1940588"/>
            <a:ext cx="3003134" cy="3302746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8" name="Yuvarlatılmış Dikdörtgen 7">
            <a:extLst>
              <a:ext uri="{FF2B5EF4-FFF2-40B4-BE49-F238E27FC236}">
                <a16:creationId xmlns:a16="http://schemas.microsoft.com/office/drawing/2014/main" id="{F8E08F85-C072-7F72-10D0-1944677E23D6}"/>
              </a:ext>
            </a:extLst>
          </p:cNvPr>
          <p:cNvSpPr/>
          <p:nvPr/>
        </p:nvSpPr>
        <p:spPr>
          <a:xfrm>
            <a:off x="4594434" y="1940588"/>
            <a:ext cx="3003134" cy="3302746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BE084711-01F1-D30B-AD73-425A7052D0BE}"/>
              </a:ext>
            </a:extLst>
          </p:cNvPr>
          <p:cNvSpPr/>
          <p:nvPr/>
        </p:nvSpPr>
        <p:spPr>
          <a:xfrm>
            <a:off x="8393218" y="1940588"/>
            <a:ext cx="3003134" cy="3302746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DABF1C5-9FB8-DC57-D17C-FE5A45EFE3F4}"/>
              </a:ext>
            </a:extLst>
          </p:cNvPr>
          <p:cNvSpPr txBox="1"/>
          <p:nvPr/>
        </p:nvSpPr>
        <p:spPr>
          <a:xfrm>
            <a:off x="906325" y="2087258"/>
            <a:ext cx="2781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latin typeface="Helvetica" pitchFamily="2" charset="0"/>
              </a:rPr>
              <a:t>Ön Problem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1327E8C7-6804-2045-14E5-30378E5E3D2B}"/>
              </a:ext>
            </a:extLst>
          </p:cNvPr>
          <p:cNvSpPr txBox="1"/>
          <p:nvPr/>
        </p:nvSpPr>
        <p:spPr>
          <a:xfrm>
            <a:off x="4664684" y="2087257"/>
            <a:ext cx="2781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Ana Problem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D61D907F-6736-2678-3C5F-BD7F1C47254E}"/>
              </a:ext>
            </a:extLst>
          </p:cNvPr>
          <p:cNvSpPr txBox="1"/>
          <p:nvPr/>
        </p:nvSpPr>
        <p:spPr>
          <a:xfrm>
            <a:off x="906324" y="2759533"/>
            <a:ext cx="2781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latin typeface="Helvetica" pitchFamily="2" charset="0"/>
              </a:rPr>
              <a:t>Pompa Kombinasyonu Seçimi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16005A65-A6AF-CEB1-5A6B-07B530187936}"/>
              </a:ext>
            </a:extLst>
          </p:cNvPr>
          <p:cNvSpPr txBox="1"/>
          <p:nvPr/>
        </p:nvSpPr>
        <p:spPr>
          <a:xfrm>
            <a:off x="4705108" y="2646321"/>
            <a:ext cx="2781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Pompa Aç/Kapa Çizelgeleme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324EAC25-9B8E-6B7C-FE3C-4C5C7E954F91}"/>
              </a:ext>
            </a:extLst>
          </p:cNvPr>
          <p:cNvSpPr txBox="1"/>
          <p:nvPr/>
        </p:nvSpPr>
        <p:spPr>
          <a:xfrm>
            <a:off x="8503892" y="2087256"/>
            <a:ext cx="2781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Ek Problemler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C318FA26-B061-B1CD-D4FB-4BB6AB4A17C2}"/>
              </a:ext>
            </a:extLst>
          </p:cNvPr>
          <p:cNvSpPr txBox="1"/>
          <p:nvPr/>
        </p:nvSpPr>
        <p:spPr>
          <a:xfrm>
            <a:off x="8455762" y="2779491"/>
            <a:ext cx="2781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1. Kritik talep önceliklendirme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8298C2C6-A424-6BE6-AB14-F9062D1ED3D6}"/>
              </a:ext>
            </a:extLst>
          </p:cNvPr>
          <p:cNvSpPr txBox="1"/>
          <p:nvPr/>
        </p:nvSpPr>
        <p:spPr>
          <a:xfrm>
            <a:off x="8455761" y="3207271"/>
            <a:ext cx="2781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2. Arıza Altında Yeniden Planlama</a:t>
            </a:r>
          </a:p>
        </p:txBody>
      </p:sp>
      <p:sp>
        <p:nvSpPr>
          <p:cNvPr id="63" name="Metin kutusu 62">
            <a:extLst>
              <a:ext uri="{FF2B5EF4-FFF2-40B4-BE49-F238E27FC236}">
                <a16:creationId xmlns:a16="http://schemas.microsoft.com/office/drawing/2014/main" id="{06FFDEE2-CB97-2AEE-60A9-DFD0F74D745D}"/>
              </a:ext>
            </a:extLst>
          </p:cNvPr>
          <p:cNvSpPr txBox="1"/>
          <p:nvPr/>
        </p:nvSpPr>
        <p:spPr>
          <a:xfrm>
            <a:off x="4688113" y="3003353"/>
            <a:ext cx="2781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Kaynak–Bölge Tahsisi</a:t>
            </a:r>
          </a:p>
        </p:txBody>
      </p:sp>
      <p:sp>
        <p:nvSpPr>
          <p:cNvPr id="66" name="Metin kutusu 65">
            <a:extLst>
              <a:ext uri="{FF2B5EF4-FFF2-40B4-BE49-F238E27FC236}">
                <a16:creationId xmlns:a16="http://schemas.microsoft.com/office/drawing/2014/main" id="{7B9BAA31-F727-DBF5-401C-1A96113FFFB2}"/>
              </a:ext>
            </a:extLst>
          </p:cNvPr>
          <p:cNvSpPr txBox="1"/>
          <p:nvPr/>
        </p:nvSpPr>
        <p:spPr>
          <a:xfrm>
            <a:off x="4701249" y="3372244"/>
            <a:ext cx="2781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Rezervuar Stok Dengeleme ve Terminal Seviye</a:t>
            </a:r>
          </a:p>
        </p:txBody>
      </p:sp>
      <p:sp>
        <p:nvSpPr>
          <p:cNvPr id="70" name="Yuvarlatılmış Dikdörtgen 69">
            <a:extLst>
              <a:ext uri="{FF2B5EF4-FFF2-40B4-BE49-F238E27FC236}">
                <a16:creationId xmlns:a16="http://schemas.microsoft.com/office/drawing/2014/main" id="{81D418D4-1BB0-501F-C0D1-80314905B630}"/>
              </a:ext>
            </a:extLst>
          </p:cNvPr>
          <p:cNvSpPr/>
          <p:nvPr/>
        </p:nvSpPr>
        <p:spPr>
          <a:xfrm>
            <a:off x="1023930" y="3549541"/>
            <a:ext cx="2664178" cy="1491169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72" name="Yuvarlatılmış Dikdörtgen 71">
            <a:extLst>
              <a:ext uri="{FF2B5EF4-FFF2-40B4-BE49-F238E27FC236}">
                <a16:creationId xmlns:a16="http://schemas.microsoft.com/office/drawing/2014/main" id="{4C1B53C7-2497-CB28-7E4F-B1AD1EB32424}"/>
              </a:ext>
            </a:extLst>
          </p:cNvPr>
          <p:cNvSpPr/>
          <p:nvPr/>
        </p:nvSpPr>
        <p:spPr>
          <a:xfrm>
            <a:off x="4746915" y="4052667"/>
            <a:ext cx="2664178" cy="988043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73" name="Yuvarlatılmış Dikdörtgen 72">
            <a:extLst>
              <a:ext uri="{FF2B5EF4-FFF2-40B4-BE49-F238E27FC236}">
                <a16:creationId xmlns:a16="http://schemas.microsoft.com/office/drawing/2014/main" id="{7F6939C1-BDA7-27CE-CE46-C7B5835C5B01}"/>
              </a:ext>
            </a:extLst>
          </p:cNvPr>
          <p:cNvSpPr/>
          <p:nvPr/>
        </p:nvSpPr>
        <p:spPr>
          <a:xfrm>
            <a:off x="8573366" y="4052667"/>
            <a:ext cx="2664178" cy="988042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74" name="Metin kutusu 73">
            <a:extLst>
              <a:ext uri="{FF2B5EF4-FFF2-40B4-BE49-F238E27FC236}">
                <a16:creationId xmlns:a16="http://schemas.microsoft.com/office/drawing/2014/main" id="{8F593C41-E0DF-D653-994F-93FF09CD659C}"/>
              </a:ext>
            </a:extLst>
          </p:cNvPr>
          <p:cNvSpPr txBox="1"/>
          <p:nvPr/>
        </p:nvSpPr>
        <p:spPr>
          <a:xfrm>
            <a:off x="1035378" y="3657964"/>
            <a:ext cx="2664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Matematiksel modeli yarışmacılar oluşturur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chemeClr val="bg1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QUBO (Zorunlu)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chemeClr val="bg1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QPU (Zorunlu)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C0C80E01-69E1-E583-15F7-CB9FE979A692}"/>
              </a:ext>
            </a:extLst>
          </p:cNvPr>
          <p:cNvSpPr txBox="1"/>
          <p:nvPr/>
        </p:nvSpPr>
        <p:spPr>
          <a:xfrm>
            <a:off x="4757648" y="4197071"/>
            <a:ext cx="2664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Matematiksel model hazır verilir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chemeClr val="bg1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Hibrit (Kuantum + Klasik)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3EC6FB4-ED75-A985-2266-E8B2FF4D8D6B}"/>
              </a:ext>
            </a:extLst>
          </p:cNvPr>
          <p:cNvSpPr txBox="1"/>
          <p:nvPr/>
        </p:nvSpPr>
        <p:spPr>
          <a:xfrm>
            <a:off x="8573366" y="4131186"/>
            <a:ext cx="2653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Matematiksel modeli yarışmacılar genişletir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chemeClr val="bg1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Hibrit (Kuantum + Klasik)</a:t>
            </a:r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50A43B66-FA8E-0FAF-19D4-1B75BF0E6B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14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E655-530F-4C8C-2EAF-05A2155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Yuvarlatılmış Dikdörtgen 4">
            <a:extLst>
              <a:ext uri="{FF2B5EF4-FFF2-40B4-BE49-F238E27FC236}">
                <a16:creationId xmlns:a16="http://schemas.microsoft.com/office/drawing/2014/main" id="{CE70B817-89C1-518A-5D54-35F0C2BE9B9C}"/>
              </a:ext>
            </a:extLst>
          </p:cNvPr>
          <p:cNvSpPr/>
          <p:nvPr/>
        </p:nvSpPr>
        <p:spPr>
          <a:xfrm>
            <a:off x="574875" y="5130537"/>
            <a:ext cx="11042248" cy="591745"/>
          </a:xfrm>
          <a:prstGeom prst="roundRect">
            <a:avLst>
              <a:gd name="adj" fmla="val 20130"/>
            </a:avLst>
          </a:prstGeom>
          <a:solidFill>
            <a:srgbClr val="0D2232"/>
          </a:solidFill>
          <a:ln>
            <a:solidFill>
              <a:srgbClr val="ED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C8869F1-17A4-49C9-07C6-B1CFF4F586E1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Ön Problem: </a:t>
            </a:r>
            <a:r>
              <a:rPr lang="tr-TR" sz="2400" b="1" dirty="0">
                <a:solidFill>
                  <a:srgbClr val="0D2232"/>
                </a:solidFill>
                <a:latin typeface="Helvetica" pitchFamily="2" charset="0"/>
              </a:rPr>
              <a:t>Pompa Kombinasyonu Seçimi 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0407B5EF-7652-435E-987C-37D72C89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EB8B8032-7832-FF2C-D0AF-779426C66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53DCD8BB-A00C-2493-D71A-AD0D05256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209BE841-73F2-B5BB-FD6F-B8BEDCB99D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7B12C19-A12F-5C00-9E4E-1BF322BE8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31BF9B50-3156-79F1-2E2B-D4FD944DDE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C1C0118D-AC0E-661F-BE06-341E81818021}"/>
              </a:ext>
            </a:extLst>
          </p:cNvPr>
          <p:cNvSpPr txBox="1"/>
          <p:nvPr/>
        </p:nvSpPr>
        <p:spPr>
          <a:xfrm>
            <a:off x="457696" y="1451828"/>
            <a:ext cx="11348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>
                <a:solidFill>
                  <a:srgbClr val="24384A"/>
                </a:solidFill>
                <a:effectLst/>
                <a:latin typeface="Helvetica" pitchFamily="2" charset="0"/>
              </a:rPr>
              <a:t>Verilen bir talebi karşılayacak, üst kapasite sınırını aşmayacak ve işletme maliyeti en küçük olacak pompa alt kümesini seçin.</a:t>
            </a:r>
          </a:p>
        </p:txBody>
      </p:sp>
      <p:sp>
        <p:nvSpPr>
          <p:cNvPr id="15" name="Yuvarlatılmış Dikdörtgen 14">
            <a:extLst>
              <a:ext uri="{FF2B5EF4-FFF2-40B4-BE49-F238E27FC236}">
                <a16:creationId xmlns:a16="http://schemas.microsoft.com/office/drawing/2014/main" id="{1DB2E592-962A-C3F7-687F-B416AFDDE0AF}"/>
              </a:ext>
            </a:extLst>
          </p:cNvPr>
          <p:cNvSpPr/>
          <p:nvPr/>
        </p:nvSpPr>
        <p:spPr>
          <a:xfrm>
            <a:off x="1279498" y="1927259"/>
            <a:ext cx="4600441" cy="2811064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6C18D48C-B7AA-8471-1ECB-E9D4E97B99DF}"/>
              </a:ext>
            </a:extLst>
          </p:cNvPr>
          <p:cNvSpPr txBox="1"/>
          <p:nvPr/>
        </p:nvSpPr>
        <p:spPr>
          <a:xfrm>
            <a:off x="1499091" y="2114806"/>
            <a:ext cx="15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latin typeface="Helvetica" pitchFamily="2" charset="0"/>
              </a:rPr>
              <a:t>Size Verilenler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F41A9513-79B3-EB62-54FF-88EE543EA28F}"/>
              </a:ext>
            </a:extLst>
          </p:cNvPr>
          <p:cNvSpPr txBox="1"/>
          <p:nvPr/>
        </p:nvSpPr>
        <p:spPr>
          <a:xfrm>
            <a:off x="1499091" y="2756313"/>
            <a:ext cx="40683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12 aday pompa — her biri için kapasite (m</a:t>
            </a:r>
            <a:r>
              <a:rPr lang="tr-TR" sz="1200" baseline="30000" dirty="0">
                <a:solidFill>
                  <a:srgbClr val="24384A"/>
                </a:solidFill>
                <a:effectLst/>
                <a:latin typeface="Helvetica" pitchFamily="2" charset="0"/>
              </a:rPr>
              <a:t>3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/</a:t>
            </a:r>
            <a:r>
              <a:rPr lang="tr-TR" sz="1200" dirty="0" err="1">
                <a:solidFill>
                  <a:srgbClr val="24384A"/>
                </a:solidFill>
                <a:effectLst/>
                <a:latin typeface="Helvetica" pitchFamily="2" charset="0"/>
              </a:rPr>
              <a:t>sa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) ve çalıştırma maliyeti (TL)</a:t>
            </a:r>
          </a:p>
          <a:p>
            <a:pPr marL="171450" marR="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24384A"/>
              </a:solidFill>
              <a:effectLst/>
              <a:latin typeface="Helvetica" pitchFamily="2" charset="0"/>
            </a:endParaRP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Karşılanması gereken talep: D = 1.025,2 m</a:t>
            </a:r>
            <a:r>
              <a:rPr lang="tr-TR" sz="1200" baseline="30000" dirty="0">
                <a:solidFill>
                  <a:srgbClr val="24384A"/>
                </a:solidFill>
                <a:effectLst/>
                <a:latin typeface="Helvetica" pitchFamily="2" charset="0"/>
              </a:rPr>
              <a:t>3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/</a:t>
            </a:r>
            <a:r>
              <a:rPr lang="tr-TR" sz="1200" dirty="0" err="1">
                <a:solidFill>
                  <a:srgbClr val="24384A"/>
                </a:solidFill>
                <a:effectLst/>
                <a:latin typeface="Helvetica" pitchFamily="2" charset="0"/>
              </a:rPr>
              <a:t>sa</a:t>
            </a:r>
            <a:endParaRPr lang="tr-TR" sz="1200" dirty="0">
              <a:solidFill>
                <a:srgbClr val="24384A"/>
              </a:solidFill>
              <a:effectLst/>
              <a:latin typeface="Helvetica" pitchFamily="2" charset="0"/>
            </a:endParaRPr>
          </a:p>
          <a:p>
            <a:pPr marL="171450" marR="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24384A"/>
              </a:solidFill>
              <a:effectLst/>
              <a:latin typeface="Helvetica" pitchFamily="2" charset="0"/>
            </a:endParaRP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latin typeface="Helvetica" pitchFamily="2" charset="0"/>
              </a:rPr>
              <a:t>Ü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st kapasite sınırı: M = 1.148,2 m</a:t>
            </a:r>
            <a:r>
              <a:rPr lang="tr-TR" sz="1200" baseline="30000" dirty="0">
                <a:solidFill>
                  <a:srgbClr val="24384A"/>
                </a:solidFill>
                <a:effectLst/>
                <a:latin typeface="Helvetica" pitchFamily="2" charset="0"/>
              </a:rPr>
              <a:t>3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/</a:t>
            </a:r>
            <a:r>
              <a:rPr lang="tr-TR" sz="1200" dirty="0" err="1">
                <a:solidFill>
                  <a:srgbClr val="24384A"/>
                </a:solidFill>
                <a:effectLst/>
                <a:latin typeface="Helvetica" pitchFamily="2" charset="0"/>
              </a:rPr>
              <a:t>sa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 (= 1,12 </a:t>
            </a:r>
            <a:r>
              <a:rPr lang="tr-TR" sz="1200" dirty="0">
                <a:solidFill>
                  <a:srgbClr val="24384A"/>
                </a:solidFill>
                <a:latin typeface="Helvetica" pitchFamily="2" charset="0"/>
              </a:rPr>
              <a:t>x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 D)</a:t>
            </a:r>
          </a:p>
          <a:p>
            <a:pPr marL="0" marR="0">
              <a:buNone/>
            </a:pPr>
            <a:endParaRPr lang="tr-TR" sz="1200" dirty="0">
              <a:solidFill>
                <a:srgbClr val="24384A"/>
              </a:solidFill>
              <a:effectLst/>
              <a:latin typeface="Helvetica" pitchFamily="2" charset="0"/>
            </a:endParaRP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Toplam kurulu kapasite 2.228,7 m</a:t>
            </a:r>
            <a:r>
              <a:rPr lang="tr-TR" sz="1200" baseline="30000" dirty="0">
                <a:solidFill>
                  <a:srgbClr val="24384A"/>
                </a:solidFill>
                <a:effectLst/>
                <a:latin typeface="Helvetica" pitchFamily="2" charset="0"/>
              </a:rPr>
              <a:t>3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/</a:t>
            </a:r>
            <a:r>
              <a:rPr lang="tr-TR" sz="1200" dirty="0" err="1">
                <a:solidFill>
                  <a:srgbClr val="24384A"/>
                </a:solidFill>
                <a:effectLst/>
                <a:latin typeface="Helvetica" pitchFamily="2" charset="0"/>
              </a:rPr>
              <a:t>sa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 — yani kapasite ne bol ne de yetersiz.</a:t>
            </a:r>
          </a:p>
        </p:txBody>
      </p:sp>
      <p:sp>
        <p:nvSpPr>
          <p:cNvPr id="23" name="Yuvarlatılmış Dikdörtgen 22">
            <a:extLst>
              <a:ext uri="{FF2B5EF4-FFF2-40B4-BE49-F238E27FC236}">
                <a16:creationId xmlns:a16="http://schemas.microsoft.com/office/drawing/2014/main" id="{25F2ED59-4383-4FBD-5920-0FD823ACD37A}"/>
              </a:ext>
            </a:extLst>
          </p:cNvPr>
          <p:cNvSpPr/>
          <p:nvPr/>
        </p:nvSpPr>
        <p:spPr>
          <a:xfrm>
            <a:off x="6288143" y="1927259"/>
            <a:ext cx="4600441" cy="2811064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E818E27E-0448-8E6C-6AB7-91AED03D93E2}"/>
              </a:ext>
            </a:extLst>
          </p:cNvPr>
          <p:cNvSpPr txBox="1"/>
          <p:nvPr/>
        </p:nvSpPr>
        <p:spPr>
          <a:xfrm>
            <a:off x="6569154" y="2114806"/>
            <a:ext cx="1868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latin typeface="Helvetica" pitchFamily="2" charset="0"/>
              </a:rPr>
              <a:t>Sizden İstenilenler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9EC9AEAA-2673-A8A7-D7D2-39AA28F5E90A}"/>
              </a:ext>
            </a:extLst>
          </p:cNvPr>
          <p:cNvSpPr txBox="1"/>
          <p:nvPr/>
        </p:nvSpPr>
        <p:spPr>
          <a:xfrm>
            <a:off x="6569154" y="2754699"/>
            <a:ext cx="4123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Hangi pompaların açılacağı — 12 elemanlı bir 0/1 listesi</a:t>
            </a: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E56D1831-B068-347F-A594-932B6CD20D19}"/>
              </a:ext>
            </a:extLst>
          </p:cNvPr>
          <p:cNvSpPr txBox="1"/>
          <p:nvPr/>
        </p:nvSpPr>
        <p:spPr>
          <a:xfrm>
            <a:off x="6569154" y="3199352"/>
            <a:ext cx="32461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Seçiminiz üç </a:t>
            </a:r>
            <a:r>
              <a:rPr lang="tr-TR" sz="1200" dirty="0">
                <a:solidFill>
                  <a:srgbClr val="24384A"/>
                </a:solidFill>
                <a:latin typeface="Helvetica" pitchFamily="2" charset="0"/>
              </a:rPr>
              <a:t>ölçüte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 göre değerlendirilir:</a:t>
            </a:r>
          </a:p>
          <a:p>
            <a:pPr marL="0" marR="0">
              <a:buNone/>
            </a:pPr>
            <a:endParaRPr lang="tr-TR" sz="1200" dirty="0">
              <a:solidFill>
                <a:srgbClr val="24384A"/>
              </a:solidFill>
              <a:effectLst/>
              <a:latin typeface="Helvetica" pitchFamily="2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talebi karşılıyor mu?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rgbClr val="24384A"/>
                </a:solidFill>
                <a:effectLst/>
                <a:latin typeface="Helvetica" pitchFamily="2" charset="0"/>
              </a:rPr>
              <a:t>üst</a:t>
            </a: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 sınırı aşıyor mu?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24384A"/>
                </a:solidFill>
                <a:effectLst/>
                <a:latin typeface="Helvetica" pitchFamily="2" charset="0"/>
              </a:rPr>
              <a:t>toplam işletme maliyeti ne?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Metin kutusu 37">
                <a:extLst>
                  <a:ext uri="{FF2B5EF4-FFF2-40B4-BE49-F238E27FC236}">
                    <a16:creationId xmlns:a16="http://schemas.microsoft.com/office/drawing/2014/main" id="{4896F056-F094-C65B-B023-E76BB3D536BC}"/>
                  </a:ext>
                </a:extLst>
              </p:cNvPr>
              <p:cNvSpPr txBox="1"/>
              <p:nvPr/>
            </p:nvSpPr>
            <p:spPr>
              <a:xfrm>
                <a:off x="1141873" y="5202657"/>
                <a:ext cx="10475250" cy="465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r-TR" sz="1200" dirty="0">
                    <a:solidFill>
                      <a:schemeClr val="bg1"/>
                    </a:solidFill>
                    <a:effectLst/>
                    <a:latin typeface="Helvetica" pitchFamily="2" charset="0"/>
                  </a:rPr>
                  <a:t>Problem bilinçli olarak küçük tutuldu. 12 pompa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1200" b="0" i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1200" b="0" i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tr-TR" sz="1200" b="0" i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tr-TR" sz="1200" b="0" i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=4.096</m:t>
                    </m:r>
                  </m:oMath>
                </a14:m>
                <a:r>
                  <a:rPr lang="tr-TR" sz="1200" dirty="0">
                    <a:solidFill>
                      <a:schemeClr val="bg1"/>
                    </a:solidFill>
                    <a:effectLst/>
                    <a:latin typeface="Helvetica" pitchFamily="2" charset="0"/>
                  </a:rPr>
                  <a:t> kombinasyon demektir; kaba kuvvetle tam taranabilir. Yani sonucunuz kesin global optimuma karşı </a:t>
                </a:r>
                <a:r>
                  <a:rPr lang="tr-TR" sz="1200" dirty="0">
                    <a:solidFill>
                      <a:schemeClr val="bg1"/>
                    </a:solidFill>
                    <a:latin typeface="Helvetica" pitchFamily="2" charset="0"/>
                  </a:rPr>
                  <a:t>doğrulanabilir. Bu, kuantum tavlayıcı çıktısının güvenilirliğini ölçmenin en temiz yoludur.</a:t>
                </a:r>
              </a:p>
            </p:txBody>
          </p:sp>
        </mc:Choice>
        <mc:Fallback xmlns="">
          <p:sp>
            <p:nvSpPr>
              <p:cNvPr id="38" name="Metin kutusu 37">
                <a:extLst>
                  <a:ext uri="{FF2B5EF4-FFF2-40B4-BE49-F238E27FC236}">
                    <a16:creationId xmlns:a16="http://schemas.microsoft.com/office/drawing/2014/main" id="{4896F056-F094-C65B-B023-E76BB3D5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873" y="5202657"/>
                <a:ext cx="10475250" cy="465833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5D50E174-A484-DBBD-E0E4-414EAB9515BD}"/>
              </a:ext>
            </a:extLst>
          </p:cNvPr>
          <p:cNvSpPr/>
          <p:nvPr/>
        </p:nvSpPr>
        <p:spPr>
          <a:xfrm>
            <a:off x="785232" y="5345573"/>
            <a:ext cx="180000" cy="180000"/>
          </a:xfrm>
          <a:prstGeom prst="ellipse">
            <a:avLst/>
          </a:prstGeom>
          <a:solidFill>
            <a:srgbClr val="EDF5F9"/>
          </a:solidFill>
          <a:ln>
            <a:solidFill>
              <a:srgbClr val="ED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68C4878F-9621-10D0-18D2-4129189F9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0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C0CF-F344-3E7D-D497-51BF4153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00EBAD39-58C1-1372-F114-DBE909A2DFE6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D2232"/>
                </a:solidFill>
                <a:latin typeface="Helvetica" pitchFamily="2" charset="0"/>
              </a:rPr>
              <a:t>Ön Problemin Bağlayıcı İki Kuralı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F7633B85-F7BA-C63E-E704-B7949B95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F97AAD7C-8B7F-F197-6F79-A1BAD55EE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005CA97E-7900-CF9D-2762-F4143333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3A16D58D-1EFF-1BAA-2201-130E18891B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BF6B11C-C9B1-7F85-FF17-F0B2ADA20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8AAD01AE-EF2F-15F8-589A-18E4C0E022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5" name="Yuvarlatılmış Dikdörtgen 4">
            <a:extLst>
              <a:ext uri="{FF2B5EF4-FFF2-40B4-BE49-F238E27FC236}">
                <a16:creationId xmlns:a16="http://schemas.microsoft.com/office/drawing/2014/main" id="{42A77D48-D8FC-0540-6890-A26E4B33CC3C}"/>
              </a:ext>
            </a:extLst>
          </p:cNvPr>
          <p:cNvSpPr/>
          <p:nvPr/>
        </p:nvSpPr>
        <p:spPr>
          <a:xfrm>
            <a:off x="677289" y="1948571"/>
            <a:ext cx="4912150" cy="2183591"/>
          </a:xfrm>
          <a:prstGeom prst="roundRect">
            <a:avLst>
              <a:gd name="adj" fmla="val 3935"/>
            </a:avLst>
          </a:prstGeom>
          <a:solidFill>
            <a:srgbClr val="ED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4B57D7C-92E2-180E-F3F4-7448EC30DB56}"/>
              </a:ext>
            </a:extLst>
          </p:cNvPr>
          <p:cNvSpPr txBox="1"/>
          <p:nvPr/>
        </p:nvSpPr>
        <p:spPr>
          <a:xfrm>
            <a:off x="1429453" y="2132476"/>
            <a:ext cx="340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0D2232"/>
                </a:solidFill>
                <a:effectLst/>
                <a:latin typeface="Helvetica" pitchFamily="2" charset="0"/>
              </a:rPr>
              <a:t>Matematiksel modeli siz kuracaksınız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245F727D-53BB-DF45-4F3F-99AB1890FCE1}"/>
              </a:ext>
            </a:extLst>
          </p:cNvPr>
          <p:cNvSpPr txBox="1"/>
          <p:nvPr/>
        </p:nvSpPr>
        <p:spPr>
          <a:xfrm>
            <a:off x="838201" y="2694155"/>
            <a:ext cx="45073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</a:rPr>
              <a:t>Size formülasyon verilmez. Problemi QUBO — kuadratik kısıtsız ikili optimizasyon — formuna kendiniz dökeceksiniz.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0D223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</a:rPr>
              <a:t>Talep karşılama ve üst kapasite sınırını ceza terimlerine nasıl gömdüğünüz, ağırlıkları nasıl seçtiğiniz size aittir.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E34F4C-A2E5-14AF-F563-3B2B07EA9891}"/>
              </a:ext>
            </a:extLst>
          </p:cNvPr>
          <p:cNvSpPr/>
          <p:nvPr/>
        </p:nvSpPr>
        <p:spPr>
          <a:xfrm>
            <a:off x="838201" y="2099141"/>
            <a:ext cx="341112" cy="341112"/>
          </a:xfrm>
          <a:prstGeom prst="ellipse">
            <a:avLst/>
          </a:prstGeom>
          <a:solidFill>
            <a:srgbClr val="0D2232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Yuvarlatılmış Dikdörtgen 16">
            <a:extLst>
              <a:ext uri="{FF2B5EF4-FFF2-40B4-BE49-F238E27FC236}">
                <a16:creationId xmlns:a16="http://schemas.microsoft.com/office/drawing/2014/main" id="{C1C7C91B-F23B-EAAF-B370-C8D420A05F7B}"/>
              </a:ext>
            </a:extLst>
          </p:cNvPr>
          <p:cNvSpPr/>
          <p:nvPr/>
        </p:nvSpPr>
        <p:spPr>
          <a:xfrm>
            <a:off x="6602561" y="1948571"/>
            <a:ext cx="4912150" cy="2183591"/>
          </a:xfrm>
          <a:prstGeom prst="roundRect">
            <a:avLst>
              <a:gd name="adj" fmla="val 3935"/>
            </a:avLst>
          </a:prstGeom>
          <a:solidFill>
            <a:srgbClr val="ED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B52C23E-88E6-D5C7-3753-3C9877410858}"/>
              </a:ext>
            </a:extLst>
          </p:cNvPr>
          <p:cNvSpPr txBox="1"/>
          <p:nvPr/>
        </p:nvSpPr>
        <p:spPr>
          <a:xfrm>
            <a:off x="7354725" y="2132476"/>
            <a:ext cx="340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0D2232"/>
                </a:solidFill>
                <a:effectLst/>
                <a:latin typeface="Helvetica" pitchFamily="2" charset="0"/>
              </a:rPr>
              <a:t>Çözüm QPU üzerinden alınacak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4872B266-A95D-BAF3-C360-0A5EFD7928FD}"/>
              </a:ext>
            </a:extLst>
          </p:cNvPr>
          <p:cNvSpPr txBox="1"/>
          <p:nvPr/>
        </p:nvSpPr>
        <p:spPr>
          <a:xfrm>
            <a:off x="6763473" y="2930331"/>
            <a:ext cx="45073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</a:rPr>
              <a:t>Bu görevde kuantum işlemci kullanımı zorunludur.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</a:rPr>
              <a:t>Klasik çözücüyle üretilmiş sonuç kabul edilmez.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9853E1-E2C6-9B5C-51AF-82FB4AFE155C}"/>
              </a:ext>
            </a:extLst>
          </p:cNvPr>
          <p:cNvSpPr/>
          <p:nvPr/>
        </p:nvSpPr>
        <p:spPr>
          <a:xfrm>
            <a:off x="6763473" y="2099141"/>
            <a:ext cx="341112" cy="341112"/>
          </a:xfrm>
          <a:prstGeom prst="ellipse">
            <a:avLst/>
          </a:prstGeom>
          <a:solidFill>
            <a:srgbClr val="0D2232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5" name="Yuvarlatılmış Dikdörtgen 24">
            <a:extLst>
              <a:ext uri="{FF2B5EF4-FFF2-40B4-BE49-F238E27FC236}">
                <a16:creationId xmlns:a16="http://schemas.microsoft.com/office/drawing/2014/main" id="{19C0047A-E7C5-F43B-2877-845F2BF4C90B}"/>
              </a:ext>
            </a:extLst>
          </p:cNvPr>
          <p:cNvSpPr/>
          <p:nvPr/>
        </p:nvSpPr>
        <p:spPr>
          <a:xfrm>
            <a:off x="555585" y="4986490"/>
            <a:ext cx="11042248" cy="591745"/>
          </a:xfrm>
          <a:prstGeom prst="roundRect">
            <a:avLst>
              <a:gd name="adj" fmla="val 20130"/>
            </a:avLst>
          </a:prstGeom>
          <a:solidFill>
            <a:srgbClr val="0D2232"/>
          </a:solidFill>
          <a:ln>
            <a:solidFill>
              <a:srgbClr val="ED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0C8C8D10-5BF5-BF6E-2A88-1AF3D31782BE}"/>
              </a:ext>
            </a:extLst>
          </p:cNvPr>
          <p:cNvSpPr txBox="1"/>
          <p:nvPr/>
        </p:nvSpPr>
        <p:spPr>
          <a:xfrm>
            <a:off x="1115992" y="5067623"/>
            <a:ext cx="10481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Puanınız QUBO enerji değeri üzerinden verilmez — enerji, seçtiğiniz ağırlıklara bağlıdır ve takımlar arasında kıyaslanamaz. Puan, seçtiğiniz pompa</a:t>
            </a:r>
          </a:p>
          <a:p>
            <a:r>
              <a:rPr lang="tr-TR" sz="1200" dirty="0">
                <a:solidFill>
                  <a:schemeClr val="bg1"/>
                </a:solidFill>
                <a:latin typeface="Helvetica" pitchFamily="2" charset="0"/>
              </a:rPr>
              <a:t>kombinasyonunun fiziksel sonucu üzerinden hesaplanır.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3E27F4-53B2-3538-5EB0-80CB8A41D5B5}"/>
              </a:ext>
            </a:extLst>
          </p:cNvPr>
          <p:cNvSpPr/>
          <p:nvPr/>
        </p:nvSpPr>
        <p:spPr>
          <a:xfrm>
            <a:off x="798857" y="5203358"/>
            <a:ext cx="180000" cy="180000"/>
          </a:xfrm>
          <a:prstGeom prst="ellipse">
            <a:avLst/>
          </a:prstGeom>
          <a:solidFill>
            <a:srgbClr val="EDF5F9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C902761B-D9F6-EE48-D2C0-0FC9DA1FE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5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847E-6465-D5AF-C060-5EBAD61E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63A57C38-ADB8-372D-86EB-7B9C065C16D7}"/>
              </a:ext>
            </a:extLst>
          </p:cNvPr>
          <p:cNvSpPr txBox="1"/>
          <p:nvPr/>
        </p:nvSpPr>
        <p:spPr>
          <a:xfrm>
            <a:off x="1680326" y="408181"/>
            <a:ext cx="928396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Ana Problem</a:t>
            </a:r>
          </a:p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 </a:t>
            </a:r>
          </a:p>
          <a:p>
            <a:r>
              <a:rPr lang="tr-TR" b="1" dirty="0">
                <a:solidFill>
                  <a:srgbClr val="0D2232"/>
                </a:solidFill>
                <a:latin typeface="Helvetica" pitchFamily="2" charset="0"/>
              </a:rPr>
              <a:t>Kaynak–Bölge Tahsisi + Pompa Aç/Kapa Çizelgeleme + Rezervuar Stok Dengeleme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7BC1556A-F7E7-509B-FDFB-78106F81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789719EE-253B-D9D2-FDC3-B3E6CED5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526C64E0-8509-6709-1198-CD3283FD8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530F48A2-991A-EA5C-1899-E00B1E56B2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B3426D0-BB57-015E-828A-7549F3344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A4BDC627-4D2F-22C1-7E7F-0F4FF653AE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7" name="Yuvarlatılmış Dikdörtgen 6">
            <a:extLst>
              <a:ext uri="{FF2B5EF4-FFF2-40B4-BE49-F238E27FC236}">
                <a16:creationId xmlns:a16="http://schemas.microsoft.com/office/drawing/2014/main" id="{975FB903-52B1-8741-C16D-FDA2C51905AE}"/>
              </a:ext>
            </a:extLst>
          </p:cNvPr>
          <p:cNvSpPr/>
          <p:nvPr/>
        </p:nvSpPr>
        <p:spPr>
          <a:xfrm>
            <a:off x="1227708" y="2023468"/>
            <a:ext cx="1858338" cy="2288650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solidFill>
              <a:srgbClr val="ED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8" name="Yuvarlatılmış Dikdörtgen 7">
            <a:extLst>
              <a:ext uri="{FF2B5EF4-FFF2-40B4-BE49-F238E27FC236}">
                <a16:creationId xmlns:a16="http://schemas.microsoft.com/office/drawing/2014/main" id="{44BFE5FD-EF47-18C8-291C-2CFA39CEC6A5}"/>
              </a:ext>
            </a:extLst>
          </p:cNvPr>
          <p:cNvSpPr/>
          <p:nvPr/>
        </p:nvSpPr>
        <p:spPr>
          <a:xfrm>
            <a:off x="3208869" y="2023468"/>
            <a:ext cx="1858338" cy="2288650"/>
          </a:xfrm>
          <a:prstGeom prst="roundRect">
            <a:avLst>
              <a:gd name="adj" fmla="val 3935"/>
            </a:avLst>
          </a:prstGeom>
          <a:solidFill>
            <a:srgbClr val="A3BFCA"/>
          </a:solidFill>
          <a:ln>
            <a:solidFill>
              <a:srgbClr val="A3BF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9" name="Yuvarlatılmış Dikdörtgen 8">
            <a:extLst>
              <a:ext uri="{FF2B5EF4-FFF2-40B4-BE49-F238E27FC236}">
                <a16:creationId xmlns:a16="http://schemas.microsoft.com/office/drawing/2014/main" id="{99B65B9C-1776-450F-9004-3C2E0E0EF1D4}"/>
              </a:ext>
            </a:extLst>
          </p:cNvPr>
          <p:cNvSpPr/>
          <p:nvPr/>
        </p:nvSpPr>
        <p:spPr>
          <a:xfrm>
            <a:off x="5190030" y="2023468"/>
            <a:ext cx="1858338" cy="2288650"/>
          </a:xfrm>
          <a:prstGeom prst="roundRect">
            <a:avLst>
              <a:gd name="adj" fmla="val 3935"/>
            </a:avLst>
          </a:prstGeom>
          <a:solidFill>
            <a:srgbClr val="718C96"/>
          </a:solidFill>
          <a:ln>
            <a:solidFill>
              <a:srgbClr val="71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0" name="Yuvarlatılmış Dikdörtgen 9">
            <a:extLst>
              <a:ext uri="{FF2B5EF4-FFF2-40B4-BE49-F238E27FC236}">
                <a16:creationId xmlns:a16="http://schemas.microsoft.com/office/drawing/2014/main" id="{B250711A-69FC-3785-5616-4D17605E0B14}"/>
              </a:ext>
            </a:extLst>
          </p:cNvPr>
          <p:cNvSpPr/>
          <p:nvPr/>
        </p:nvSpPr>
        <p:spPr>
          <a:xfrm>
            <a:off x="7171191" y="2023468"/>
            <a:ext cx="1858338" cy="2288650"/>
          </a:xfrm>
          <a:prstGeom prst="roundRect">
            <a:avLst>
              <a:gd name="adj" fmla="val 3935"/>
            </a:avLst>
          </a:prstGeom>
          <a:solidFill>
            <a:srgbClr val="425D66"/>
          </a:solidFill>
          <a:ln>
            <a:solidFill>
              <a:srgbClr val="425D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4F0721C1-23AA-D575-7050-F85C67C2B593}"/>
              </a:ext>
            </a:extLst>
          </p:cNvPr>
          <p:cNvSpPr/>
          <p:nvPr/>
        </p:nvSpPr>
        <p:spPr>
          <a:xfrm>
            <a:off x="9152352" y="2023468"/>
            <a:ext cx="1858338" cy="2288650"/>
          </a:xfrm>
          <a:prstGeom prst="roundRect">
            <a:avLst>
              <a:gd name="adj" fmla="val 3935"/>
            </a:avLst>
          </a:prstGeom>
          <a:solidFill>
            <a:srgbClr val="16313A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3CEA9BA0-E9F0-AE86-7F34-3E68CCF05BF3}"/>
              </a:ext>
            </a:extLst>
          </p:cNvPr>
          <p:cNvSpPr txBox="1"/>
          <p:nvPr/>
        </p:nvSpPr>
        <p:spPr>
          <a:xfrm>
            <a:off x="1283074" y="2577708"/>
            <a:ext cx="1257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153039"/>
                </a:solidFill>
                <a:latin typeface="Helvetica" pitchFamily="2" charset="0"/>
              </a:rPr>
              <a:t>Kaynak tahsisi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C4FED975-75B3-0510-0202-B25D4F82A56E}"/>
              </a:ext>
            </a:extLst>
          </p:cNvPr>
          <p:cNvSpPr txBox="1"/>
          <p:nvPr/>
        </p:nvSpPr>
        <p:spPr>
          <a:xfrm>
            <a:off x="3331651" y="2577708"/>
            <a:ext cx="1536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153039"/>
                </a:solidFill>
                <a:latin typeface="Helvetica" pitchFamily="2" charset="0"/>
              </a:rPr>
              <a:t>Pompa Aç / Kapa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314CE41F-7D3E-841E-4120-B02C42ACC068}"/>
              </a:ext>
            </a:extLst>
          </p:cNvPr>
          <p:cNvSpPr txBox="1"/>
          <p:nvPr/>
        </p:nvSpPr>
        <p:spPr>
          <a:xfrm>
            <a:off x="5312851" y="2577708"/>
            <a:ext cx="1413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chemeClr val="bg1"/>
                </a:solidFill>
                <a:latin typeface="Helvetica" pitchFamily="2" charset="0"/>
              </a:rPr>
              <a:t>Hat Akışları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31C536E0-4ED9-1501-9EA3-C37F8DC39EC5}"/>
              </a:ext>
            </a:extLst>
          </p:cNvPr>
          <p:cNvSpPr txBox="1"/>
          <p:nvPr/>
        </p:nvSpPr>
        <p:spPr>
          <a:xfrm>
            <a:off x="7294051" y="2577708"/>
            <a:ext cx="1413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EDF5F9"/>
                </a:solidFill>
                <a:latin typeface="Helvetica" pitchFamily="2" charset="0"/>
              </a:rPr>
              <a:t>Stok Dengeleme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6DD37E1D-E4F7-AF3A-C3A3-26AF78F3DCF5}"/>
              </a:ext>
            </a:extLst>
          </p:cNvPr>
          <p:cNvSpPr txBox="1"/>
          <p:nvPr/>
        </p:nvSpPr>
        <p:spPr>
          <a:xfrm>
            <a:off x="9275398" y="2577708"/>
            <a:ext cx="1413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EDF5F9"/>
                </a:solidFill>
                <a:latin typeface="Helvetica" pitchFamily="2" charset="0"/>
              </a:rPr>
              <a:t>Talep karşılama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6DB51F83-0D7C-9B98-4439-694324D5661A}"/>
              </a:ext>
            </a:extLst>
          </p:cNvPr>
          <p:cNvSpPr txBox="1"/>
          <p:nvPr/>
        </p:nvSpPr>
        <p:spPr>
          <a:xfrm>
            <a:off x="1283074" y="2167390"/>
            <a:ext cx="33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rgbClr val="153039"/>
                </a:solidFill>
                <a:latin typeface="Helvetica" pitchFamily="2" charset="0"/>
              </a:rPr>
              <a:t>1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654E0D0-3963-F854-147E-E779FA05978E}"/>
              </a:ext>
            </a:extLst>
          </p:cNvPr>
          <p:cNvSpPr txBox="1"/>
          <p:nvPr/>
        </p:nvSpPr>
        <p:spPr>
          <a:xfrm>
            <a:off x="3312290" y="2167390"/>
            <a:ext cx="33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rgbClr val="153039"/>
                </a:solidFill>
                <a:latin typeface="Helvetica" pitchFamily="2" charset="0"/>
              </a:rPr>
              <a:t>2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4A2474AF-78A5-BB94-5A98-C98021DC3BE2}"/>
              </a:ext>
            </a:extLst>
          </p:cNvPr>
          <p:cNvSpPr txBox="1"/>
          <p:nvPr/>
        </p:nvSpPr>
        <p:spPr>
          <a:xfrm>
            <a:off x="5273517" y="2167390"/>
            <a:ext cx="33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rgbClr val="EDF5F9"/>
                </a:solidFill>
                <a:latin typeface="Helvetica" pitchFamily="2" charset="0"/>
              </a:rPr>
              <a:t>3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2888AD6C-9BA8-4103-D79F-FBE2283E56DB}"/>
              </a:ext>
            </a:extLst>
          </p:cNvPr>
          <p:cNvSpPr txBox="1"/>
          <p:nvPr/>
        </p:nvSpPr>
        <p:spPr>
          <a:xfrm>
            <a:off x="7294051" y="2177598"/>
            <a:ext cx="33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rgbClr val="EDF5F9"/>
                </a:solidFill>
                <a:latin typeface="Helvetica" pitchFamily="2" charset="0"/>
              </a:rPr>
              <a:t>4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0695156D-FFF9-7A08-E19D-D3E91A49E36C}"/>
              </a:ext>
            </a:extLst>
          </p:cNvPr>
          <p:cNvSpPr txBox="1"/>
          <p:nvPr/>
        </p:nvSpPr>
        <p:spPr>
          <a:xfrm>
            <a:off x="9275398" y="2167390"/>
            <a:ext cx="335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rgbClr val="EDF5F9"/>
                </a:solidFill>
                <a:latin typeface="Helvetica" pitchFamily="2" charset="0"/>
              </a:rPr>
              <a:t>5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DCCFCE42-986D-938C-B41D-88AE0FDDF7C2}"/>
              </a:ext>
            </a:extLst>
          </p:cNvPr>
          <p:cNvSpPr txBox="1"/>
          <p:nvPr/>
        </p:nvSpPr>
        <p:spPr>
          <a:xfrm>
            <a:off x="1283074" y="3283537"/>
            <a:ext cx="169113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>
                <a:solidFill>
                  <a:srgbClr val="153039"/>
                </a:solidFill>
                <a:latin typeface="Helvetica Light" panose="020B0403020202020204" pitchFamily="34" charset="0"/>
              </a:rPr>
              <a:t>Hangi kaynak devreye alınacak, hangisinden ne kadar su çekilecek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607DFDD1-15F1-0A9B-526B-46FF977014B2}"/>
              </a:ext>
            </a:extLst>
          </p:cNvPr>
          <p:cNvSpPr txBox="1"/>
          <p:nvPr/>
        </p:nvSpPr>
        <p:spPr>
          <a:xfrm>
            <a:off x="3312290" y="3283537"/>
            <a:ext cx="16911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>
                <a:solidFill>
                  <a:srgbClr val="153039"/>
                </a:solidFill>
                <a:latin typeface="Helvetica Light" panose="020B0403020202020204" pitchFamily="34" charset="0"/>
              </a:rPr>
              <a:t>Hangi pompalar çalışacak−sabit açma maliyeti ve açıkken minimum debi koşuluyla</a:t>
            </a:r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F9BEFD15-E03E-EAC5-81FD-DFE75F986827}"/>
              </a:ext>
            </a:extLst>
          </p:cNvPr>
          <p:cNvSpPr txBox="1"/>
          <p:nvPr/>
        </p:nvSpPr>
        <p:spPr>
          <a:xfrm>
            <a:off x="5273633" y="3283537"/>
            <a:ext cx="1691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>
                <a:solidFill>
                  <a:srgbClr val="EDF5F9"/>
                </a:solidFill>
                <a:latin typeface="Helvetica Light" panose="020B0403020202020204" pitchFamily="34" charset="0"/>
              </a:rPr>
              <a:t>Her ark üzerinde ne kadar debi taşınacak</a:t>
            </a: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7D1DEBEB-3581-711E-5593-747DBB34BF27}"/>
              </a:ext>
            </a:extLst>
          </p:cNvPr>
          <p:cNvSpPr txBox="1"/>
          <p:nvPr/>
        </p:nvSpPr>
        <p:spPr>
          <a:xfrm>
            <a:off x="7254794" y="3283537"/>
            <a:ext cx="169113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>
                <a:solidFill>
                  <a:srgbClr val="EDF5F9"/>
                </a:solidFill>
                <a:latin typeface="Helvetica Light" panose="020B0403020202020204" pitchFamily="34" charset="0"/>
              </a:rPr>
              <a:t>Depolara dolum, depolardan çekim ve dönem sonu hacim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E37BD41C-8547-6FD4-3733-E56179CBC037}"/>
              </a:ext>
            </a:extLst>
          </p:cNvPr>
          <p:cNvSpPr txBox="1"/>
          <p:nvPr/>
        </p:nvSpPr>
        <p:spPr>
          <a:xfrm>
            <a:off x="9273160" y="3283537"/>
            <a:ext cx="1691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>
                <a:solidFill>
                  <a:srgbClr val="EDF5F9"/>
                </a:solidFill>
                <a:latin typeface="Helvetica Light" panose="020B0403020202020204" pitchFamily="34" charset="0"/>
              </a:rPr>
              <a:t>Hangi bölgede ne kadar kısıntı olacak</a:t>
            </a:r>
          </a:p>
        </p:txBody>
      </p:sp>
      <p:sp>
        <p:nvSpPr>
          <p:cNvPr id="41" name="Metin kutusu 40">
            <a:extLst>
              <a:ext uri="{FF2B5EF4-FFF2-40B4-BE49-F238E27FC236}">
                <a16:creationId xmlns:a16="http://schemas.microsoft.com/office/drawing/2014/main" id="{CD3BE74B-AC3D-8527-AAB4-E5E98DABC259}"/>
              </a:ext>
            </a:extLst>
          </p:cNvPr>
          <p:cNvSpPr txBox="1"/>
          <p:nvPr/>
        </p:nvSpPr>
        <p:spPr>
          <a:xfrm>
            <a:off x="1181310" y="4556282"/>
            <a:ext cx="10469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200" dirty="0">
                <a:latin typeface="Helvetica" pitchFamily="2" charset="0"/>
              </a:rPr>
              <a:t>Beşi birbirine bağlıdır. Ayrı ayrı optimize edilemezler — bir kaynağı kapatmak hat akışlarını, hat akışları depo dengesini, depo dengesi de talep karşılamayı değiştirir.</a:t>
            </a:r>
          </a:p>
        </p:txBody>
      </p:sp>
      <p:pic>
        <p:nvPicPr>
          <p:cNvPr id="5" name="Resim 4" descr="Download D-Wave Systems Logo in SVG Vector or PNG File Format - Logo.wine">
            <a:extLst>
              <a:ext uri="{FF2B5EF4-FFF2-40B4-BE49-F238E27FC236}">
                <a16:creationId xmlns:a16="http://schemas.microsoft.com/office/drawing/2014/main" id="{64CE785E-C957-4E24-8DB1-7276FA102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7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F132-907E-5CCF-CFCD-B05789B3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2E35C7CB-6F48-B0EA-BB6B-DF69DFD76338}"/>
              </a:ext>
            </a:extLst>
          </p:cNvPr>
          <p:cNvSpPr txBox="1"/>
          <p:nvPr/>
        </p:nvSpPr>
        <p:spPr>
          <a:xfrm>
            <a:off x="4484483" y="454232"/>
            <a:ext cx="3070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Ana Problem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6B3833E7-E067-ADB5-A616-CCB082FA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78A8073C-FD58-3404-B31B-F2A646D27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776824FB-2829-B56C-3EFB-CA43977CB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AF861792-4B63-6F65-8102-05C121FB47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3CD765E-64D4-06E8-04C3-A02C1E561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A4602D42-B0CA-B326-5DD6-4A91131158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58E4B15B-054A-B46A-321A-52A5B3AB6045}"/>
              </a:ext>
            </a:extLst>
          </p:cNvPr>
          <p:cNvSpPr/>
          <p:nvPr/>
        </p:nvSpPr>
        <p:spPr>
          <a:xfrm>
            <a:off x="969421" y="1919662"/>
            <a:ext cx="3989685" cy="2502649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9D52A2BD-AED7-8059-125D-BF0EFBF0E3D2}"/>
              </a:ext>
            </a:extLst>
          </p:cNvPr>
          <p:cNvSpPr txBox="1"/>
          <p:nvPr/>
        </p:nvSpPr>
        <p:spPr>
          <a:xfrm>
            <a:off x="1043466" y="2098278"/>
            <a:ext cx="1413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153039"/>
                </a:solidFill>
                <a:latin typeface="Helvetica" pitchFamily="2" charset="0"/>
              </a:rPr>
              <a:t>İşletme maliyeti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C241FF6C-F189-A112-3931-2664021574C3}"/>
              </a:ext>
            </a:extLst>
          </p:cNvPr>
          <p:cNvSpPr txBox="1"/>
          <p:nvPr/>
        </p:nvSpPr>
        <p:spPr>
          <a:xfrm>
            <a:off x="1196005" y="2452974"/>
            <a:ext cx="34368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153039"/>
                </a:solidFill>
                <a:latin typeface="Helvetica Light" panose="020B0403020202020204" pitchFamily="34" charset="0"/>
              </a:rPr>
              <a:t>Kaynak üretim maliyeti ve kaynak devreye alma maliyeti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100" dirty="0">
              <a:solidFill>
                <a:srgbClr val="153039"/>
              </a:solidFill>
              <a:latin typeface="Helvetica Light" panose="020B04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153039"/>
                </a:solidFill>
                <a:latin typeface="Helvetica Light" panose="020B0403020202020204" pitchFamily="34" charset="0"/>
              </a:rPr>
              <a:t>Pompa sabit açma maliyeti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100" dirty="0">
              <a:solidFill>
                <a:srgbClr val="153039"/>
              </a:solidFill>
              <a:latin typeface="Helvetica Light" panose="020B04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153039"/>
                </a:solidFill>
                <a:latin typeface="Helvetica Light" panose="020B0403020202020204" pitchFamily="34" charset="0"/>
              </a:rPr>
              <a:t>Pompa enerji maliyeti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100" dirty="0">
              <a:solidFill>
                <a:srgbClr val="153039"/>
              </a:solidFill>
              <a:latin typeface="Helvetica Light" panose="020B04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153039"/>
                </a:solidFill>
                <a:latin typeface="Helvetica Light" panose="020B0403020202020204" pitchFamily="34" charset="0"/>
              </a:rPr>
              <a:t>Hat taşıma maliyeti ve akış düzenleme terimi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100" dirty="0">
              <a:solidFill>
                <a:srgbClr val="153039"/>
              </a:solidFill>
              <a:latin typeface="Helvetica Light" panose="020B0403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153039"/>
                </a:solidFill>
                <a:latin typeface="Helvetica Light" panose="020B0403020202020204" pitchFamily="34" charset="0"/>
              </a:rPr>
              <a:t>Depo giriş-çıkış işlem maliyeti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A17039F-0AF9-DE5B-01BC-AD88595A0AAD}"/>
              </a:ext>
            </a:extLst>
          </p:cNvPr>
          <p:cNvSpPr txBox="1"/>
          <p:nvPr/>
        </p:nvSpPr>
        <p:spPr>
          <a:xfrm>
            <a:off x="928300" y="1462408"/>
            <a:ext cx="6211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b="1" dirty="0">
                <a:solidFill>
                  <a:srgbClr val="24384A"/>
                </a:solidFill>
                <a:effectLst/>
                <a:latin typeface="Helvetica" pitchFamily="2" charset="0"/>
              </a:rPr>
              <a:t>Neyi en küçüklemeye çalışıyorsunuz?</a:t>
            </a:r>
          </a:p>
        </p:txBody>
      </p:sp>
      <p:graphicFrame>
        <p:nvGraphicFramePr>
          <p:cNvPr id="15" name="Tablo 14">
            <a:extLst>
              <a:ext uri="{FF2B5EF4-FFF2-40B4-BE49-F238E27FC236}">
                <a16:creationId xmlns:a16="http://schemas.microsoft.com/office/drawing/2014/main" id="{23E16B0C-41BD-C3A3-8D8C-9E7605211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489439"/>
              </p:ext>
            </p:extLst>
          </p:nvPr>
        </p:nvGraphicFramePr>
        <p:xfrm>
          <a:off x="5828170" y="2491551"/>
          <a:ext cx="48407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9704">
                  <a:extLst>
                    <a:ext uri="{9D8B030D-6E8A-4147-A177-3AD203B41FA5}">
                      <a16:colId xmlns:a16="http://schemas.microsoft.com/office/drawing/2014/main" val="3940358233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14216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1400" b="0" i="0" dirty="0">
                          <a:latin typeface="Helvetica" pitchFamily="2" charset="0"/>
                        </a:rPr>
                        <a:t>Ceza kalemi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400" b="0" i="0" dirty="0">
                          <a:latin typeface="Helvetica" pitchFamily="2" charset="0"/>
                        </a:rPr>
                        <a:t>TL / m</a:t>
                      </a:r>
                      <a:r>
                        <a:rPr lang="tr-TR" sz="1400" b="0" i="0" baseline="30000" dirty="0">
                          <a:latin typeface="Helvetica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737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b="1" i="0" dirty="0">
                          <a:latin typeface="HELVETICA LIGHT" panose="020B0403020202020204" pitchFamily="34" charset="0"/>
                        </a:rPr>
                        <a:t>Karşılanamayan talep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200" b="1" i="0" dirty="0">
                          <a:latin typeface="HELVETICA LIGHT" panose="020B0403020202020204" pitchFamily="34" charset="0"/>
                        </a:rPr>
                        <a:t>25.000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29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b="0" i="0" dirty="0">
                          <a:latin typeface="Helvetica Light" panose="020B0403020202020204" pitchFamily="34" charset="0"/>
                        </a:rPr>
                        <a:t>Depo kritik seviye ihlali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200" b="0" i="0" dirty="0">
                          <a:latin typeface="Helvetica Light" panose="020B0403020202020204" pitchFamily="34" charset="0"/>
                        </a:rPr>
                        <a:t>800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31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b="0" i="0" dirty="0">
                          <a:latin typeface="Helvetica Light" panose="020B0403020202020204" pitchFamily="34" charset="0"/>
                        </a:rPr>
                        <a:t>Depo minimum seviye ihlali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200" b="0" i="0" dirty="0">
                          <a:latin typeface="Helvetica Light" panose="020B040302020202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621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200" b="0" i="0" dirty="0">
                          <a:latin typeface="Helvetica Light" panose="020B0403020202020204" pitchFamily="34" charset="0"/>
                        </a:rPr>
                        <a:t>Depo tüketimi fırsat maliyeti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200" b="0" i="0" dirty="0">
                          <a:latin typeface="Helvetica Light" panose="020B0403020202020204" pitchFamily="34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560532"/>
                  </a:ext>
                </a:extLst>
              </a:tr>
            </a:tbl>
          </a:graphicData>
        </a:graphic>
      </p:graphicFrame>
      <p:sp>
        <p:nvSpPr>
          <p:cNvPr id="16" name="Metin kutusu 15">
            <a:extLst>
              <a:ext uri="{FF2B5EF4-FFF2-40B4-BE49-F238E27FC236}">
                <a16:creationId xmlns:a16="http://schemas.microsoft.com/office/drawing/2014/main" id="{2144BB10-A8EC-BE7F-8A8C-9C15696F91DA}"/>
              </a:ext>
            </a:extLst>
          </p:cNvPr>
          <p:cNvSpPr txBox="1"/>
          <p:nvPr/>
        </p:nvSpPr>
        <p:spPr>
          <a:xfrm>
            <a:off x="5784197" y="1968801"/>
            <a:ext cx="2710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rgbClr val="F3621B"/>
                </a:solidFill>
                <a:latin typeface="Helvetica" pitchFamily="2" charset="0"/>
              </a:rPr>
              <a:t>Hizmet ve güvenlik cezaları</a:t>
            </a:r>
          </a:p>
        </p:txBody>
      </p:sp>
      <p:sp>
        <p:nvSpPr>
          <p:cNvPr id="23" name="Yuvarlatılmış Dikdörtgen 22">
            <a:extLst>
              <a:ext uri="{FF2B5EF4-FFF2-40B4-BE49-F238E27FC236}">
                <a16:creationId xmlns:a16="http://schemas.microsoft.com/office/drawing/2014/main" id="{6EE35805-C5CD-3926-F50A-3DFE08331722}"/>
              </a:ext>
            </a:extLst>
          </p:cNvPr>
          <p:cNvSpPr/>
          <p:nvPr/>
        </p:nvSpPr>
        <p:spPr>
          <a:xfrm>
            <a:off x="592011" y="4973988"/>
            <a:ext cx="11042248" cy="512168"/>
          </a:xfrm>
          <a:prstGeom prst="roundRect">
            <a:avLst>
              <a:gd name="adj" fmla="val 20130"/>
            </a:avLst>
          </a:prstGeom>
          <a:solidFill>
            <a:srgbClr val="FFE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396C849B-45A4-650A-67C9-BB5EE3BF1C8A}"/>
              </a:ext>
            </a:extLst>
          </p:cNvPr>
          <p:cNvSpPr txBox="1"/>
          <p:nvPr/>
        </p:nvSpPr>
        <p:spPr>
          <a:xfrm>
            <a:off x="1047120" y="5044328"/>
            <a:ext cx="1009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100" dirty="0">
                <a:latin typeface="Helvetica" pitchFamily="2" charset="0"/>
              </a:rPr>
              <a:t>Karşılanamayan talep cezası diğerlerinin kat kat üzerindedir. Bu bilinçlidir: model, talebi karşılamak için neredeyse her işletme maliyetini ödemeye razı olmalıdır. Kısıntı ancak fiziksel olarak kaçınılmaz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6A8DFC-0CB1-B4A6-F166-F04EECFA994A}"/>
              </a:ext>
            </a:extLst>
          </p:cNvPr>
          <p:cNvSpPr/>
          <p:nvPr/>
        </p:nvSpPr>
        <p:spPr>
          <a:xfrm>
            <a:off x="740143" y="5130443"/>
            <a:ext cx="180000" cy="180000"/>
          </a:xfrm>
          <a:prstGeom prst="ellipse">
            <a:avLst/>
          </a:prstGeom>
          <a:solidFill>
            <a:srgbClr val="F3621B"/>
          </a:solidFill>
          <a:ln>
            <a:solidFill>
              <a:srgbClr val="F362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1AF77C9A-2CCD-EF47-F7F6-3A99707916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92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5829-B7B8-9641-3133-CFFE708E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Yuvarlatılmış Dikdörtgen 29">
            <a:extLst>
              <a:ext uri="{FF2B5EF4-FFF2-40B4-BE49-F238E27FC236}">
                <a16:creationId xmlns:a16="http://schemas.microsoft.com/office/drawing/2014/main" id="{65058115-606A-0D03-EDC1-38CE2B658273}"/>
              </a:ext>
            </a:extLst>
          </p:cNvPr>
          <p:cNvSpPr/>
          <p:nvPr/>
        </p:nvSpPr>
        <p:spPr>
          <a:xfrm>
            <a:off x="3472413" y="4866218"/>
            <a:ext cx="2449353" cy="904227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EFF5BE6-EE5C-7551-AFF1-0D2C99344592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D2232"/>
                </a:solidFill>
                <a:latin typeface="Helvetica" pitchFamily="2" charset="0"/>
              </a:rPr>
              <a:t>Ana Problemin Bağlayıcı İki Kuralı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51CA6921-7F6A-A863-2C2F-4C47DFA9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2CA7AAFA-2D44-A599-E7AE-162444275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AF7DD943-C993-A72C-3457-EA1E514E1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7B3EAB2C-29E6-D35E-EBBF-664D9EB3D8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5BE048A-4CAF-8EE4-BB80-0817CCFF4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91A83D7-FB68-6028-1049-68ECBABCD4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5" name="Yuvarlatılmış Dikdörtgen 4">
            <a:extLst>
              <a:ext uri="{FF2B5EF4-FFF2-40B4-BE49-F238E27FC236}">
                <a16:creationId xmlns:a16="http://schemas.microsoft.com/office/drawing/2014/main" id="{7679E179-C284-34C9-CC2A-996C05E02203}"/>
              </a:ext>
            </a:extLst>
          </p:cNvPr>
          <p:cNvSpPr/>
          <p:nvPr/>
        </p:nvSpPr>
        <p:spPr>
          <a:xfrm>
            <a:off x="677289" y="1598350"/>
            <a:ext cx="4912150" cy="2537345"/>
          </a:xfrm>
          <a:prstGeom prst="roundRect">
            <a:avLst>
              <a:gd name="adj" fmla="val 3935"/>
            </a:avLst>
          </a:prstGeom>
          <a:solidFill>
            <a:srgbClr val="ED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C6727C6-3B4F-D5CE-73A5-6C5449764224}"/>
              </a:ext>
            </a:extLst>
          </p:cNvPr>
          <p:cNvSpPr txBox="1"/>
          <p:nvPr/>
        </p:nvSpPr>
        <p:spPr>
          <a:xfrm>
            <a:off x="1429453" y="1782255"/>
            <a:ext cx="340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0D2232"/>
                </a:solidFill>
                <a:effectLst/>
                <a:latin typeface="Helvetica" pitchFamily="2" charset="0"/>
              </a:rPr>
              <a:t>Matematiksel </a:t>
            </a:r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M</a:t>
            </a:r>
            <a:r>
              <a:rPr lang="tr-TR" sz="1400" b="1" dirty="0">
                <a:solidFill>
                  <a:srgbClr val="0D2232"/>
                </a:solidFill>
                <a:effectLst/>
                <a:latin typeface="Helvetica" pitchFamily="2" charset="0"/>
              </a:rPr>
              <a:t>odel </a:t>
            </a:r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H</a:t>
            </a:r>
            <a:r>
              <a:rPr lang="tr-TR" sz="1400" b="1" dirty="0">
                <a:solidFill>
                  <a:srgbClr val="0D2232"/>
                </a:solidFill>
                <a:effectLst/>
                <a:latin typeface="Helvetica" pitchFamily="2" charset="0"/>
              </a:rPr>
              <a:t>azır </a:t>
            </a:r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V</a:t>
            </a:r>
            <a:r>
              <a:rPr lang="tr-TR" sz="1400" b="1" dirty="0">
                <a:solidFill>
                  <a:srgbClr val="0D2232"/>
                </a:solidFill>
                <a:effectLst/>
                <a:latin typeface="Helvetica" pitchFamily="2" charset="0"/>
              </a:rPr>
              <a:t>erilecek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890D467-5FB1-E1A4-196C-D4CE5050D2C1}"/>
              </a:ext>
            </a:extLst>
          </p:cNvPr>
          <p:cNvSpPr txBox="1"/>
          <p:nvPr/>
        </p:nvSpPr>
        <p:spPr>
          <a:xfrm>
            <a:off x="838201" y="2343934"/>
            <a:ext cx="450731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" pitchFamily="2" charset="0"/>
              </a:rPr>
              <a:t>Size formülasyon verilecek.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1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" pitchFamily="2" charset="0"/>
              </a:rPr>
              <a:t>Sağlanması gereken kısıtlar formülasyonda verilmiştir.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1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" pitchFamily="2" charset="0"/>
              </a:rPr>
              <a:t>Problem_02.pdf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72CFB06-3A71-8E09-B040-010912A79803}"/>
              </a:ext>
            </a:extLst>
          </p:cNvPr>
          <p:cNvSpPr/>
          <p:nvPr/>
        </p:nvSpPr>
        <p:spPr>
          <a:xfrm>
            <a:off x="838201" y="1748920"/>
            <a:ext cx="341112" cy="341112"/>
          </a:xfrm>
          <a:prstGeom prst="ellipse">
            <a:avLst/>
          </a:prstGeom>
          <a:solidFill>
            <a:srgbClr val="0D2232"/>
          </a:solidFill>
          <a:ln>
            <a:solidFill>
              <a:srgbClr val="0D2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Yuvarlatılmış Dikdörtgen 16">
            <a:extLst>
              <a:ext uri="{FF2B5EF4-FFF2-40B4-BE49-F238E27FC236}">
                <a16:creationId xmlns:a16="http://schemas.microsoft.com/office/drawing/2014/main" id="{372F40F6-831A-81DF-ECED-4972613D752C}"/>
              </a:ext>
            </a:extLst>
          </p:cNvPr>
          <p:cNvSpPr/>
          <p:nvPr/>
        </p:nvSpPr>
        <p:spPr>
          <a:xfrm>
            <a:off x="6602563" y="1591636"/>
            <a:ext cx="4912150" cy="2544059"/>
          </a:xfrm>
          <a:prstGeom prst="roundRect">
            <a:avLst>
              <a:gd name="adj" fmla="val 3935"/>
            </a:avLst>
          </a:prstGeom>
          <a:solidFill>
            <a:srgbClr val="FCE2E1"/>
          </a:solidFill>
          <a:ln>
            <a:solidFill>
              <a:srgbClr val="FF2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C7A0A990-0D54-6F24-2741-02206EAAC111}"/>
              </a:ext>
            </a:extLst>
          </p:cNvPr>
          <p:cNvSpPr txBox="1"/>
          <p:nvPr/>
        </p:nvSpPr>
        <p:spPr>
          <a:xfrm>
            <a:off x="7354727" y="1775541"/>
            <a:ext cx="340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FF2600"/>
                </a:solidFill>
                <a:effectLst/>
                <a:latin typeface="Helvetica" pitchFamily="2" charset="0"/>
              </a:rPr>
              <a:t>Hibrit Çözüm Zorunludur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019F7576-CBCF-F73B-5477-5C65F90327D8}"/>
              </a:ext>
            </a:extLst>
          </p:cNvPr>
          <p:cNvSpPr txBox="1"/>
          <p:nvPr/>
        </p:nvSpPr>
        <p:spPr>
          <a:xfrm>
            <a:off x="6804982" y="2200073"/>
            <a:ext cx="4650420" cy="1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 Light" panose="020B0403020202020204" pitchFamily="34" charset="0"/>
              </a:rPr>
              <a:t>Bu görevde </a:t>
            </a:r>
            <a:r>
              <a:rPr lang="tr-TR" sz="1100" b="1" dirty="0">
                <a:solidFill>
                  <a:srgbClr val="0D2232"/>
                </a:solidFill>
                <a:latin typeface="HELVETICA LIGHT" panose="020B0403020202020204" pitchFamily="34" charset="0"/>
              </a:rPr>
              <a:t>Kuantum + Klasik  </a:t>
            </a:r>
            <a:r>
              <a:rPr lang="tr-TR" sz="1100" dirty="0">
                <a:solidFill>
                  <a:srgbClr val="0D2232"/>
                </a:solidFill>
                <a:latin typeface="Helvetica Light" panose="020B0403020202020204" pitchFamily="34" charset="0"/>
              </a:rPr>
              <a:t>çözüm zorunludur.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100" b="1" dirty="0">
                <a:solidFill>
                  <a:srgbClr val="0D2232"/>
                </a:solidFill>
                <a:latin typeface="Helvetica Light" panose="020B0403020202020204" pitchFamily="34" charset="0"/>
              </a:rPr>
              <a:t>Zaman limiti</a:t>
            </a:r>
            <a:r>
              <a:rPr lang="tr-TR" sz="1100" dirty="0">
                <a:solidFill>
                  <a:srgbClr val="0D2232"/>
                </a:solidFill>
                <a:latin typeface="Helvetica Light" panose="020B0403020202020204" pitchFamily="34" charset="0"/>
              </a:rPr>
              <a:t> </a:t>
            </a:r>
            <a:r>
              <a:rPr lang="tr-TR" sz="1100" b="1" dirty="0">
                <a:solidFill>
                  <a:srgbClr val="0D2232"/>
                </a:solidFill>
                <a:latin typeface="Helvetica Light" panose="020B0403020202020204" pitchFamily="34" charset="0"/>
              </a:rPr>
              <a:t>≤ 15 dk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 Light" panose="020B0403020202020204" pitchFamily="34" charset="0"/>
              </a:rPr>
              <a:t>Sadece klasik çözücüyle üretilmiş sonuç kabul edilmez.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 Light" panose="020B0403020202020204" pitchFamily="34" charset="0"/>
              </a:rPr>
              <a:t>Kuantum bileşenin çalıştırıldığı ama sonuca hiçbir katkı vermediği kurgular geçersizdir.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100" dirty="0">
                <a:solidFill>
                  <a:srgbClr val="0D2232"/>
                </a:solidFill>
                <a:latin typeface="Helvetica Light" panose="020B0403020202020204" pitchFamily="34" charset="0"/>
              </a:rPr>
              <a:t>Kuantum bileşeninin varlığının belgelenemediği çözümler geçersizdir.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405C9F-9A70-DCD7-6ECB-BC960AF0BBE3}"/>
              </a:ext>
            </a:extLst>
          </p:cNvPr>
          <p:cNvSpPr/>
          <p:nvPr/>
        </p:nvSpPr>
        <p:spPr>
          <a:xfrm>
            <a:off x="6763475" y="1742206"/>
            <a:ext cx="341112" cy="341112"/>
          </a:xfrm>
          <a:prstGeom prst="ellipse">
            <a:avLst/>
          </a:prstGeom>
          <a:solidFill>
            <a:srgbClr val="FF2600"/>
          </a:solidFill>
          <a:ln>
            <a:solidFill>
              <a:srgbClr val="FF2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0C71CCA-D9BC-4457-9720-6DB5C349D3F1}"/>
              </a:ext>
            </a:extLst>
          </p:cNvPr>
          <p:cNvSpPr txBox="1"/>
          <p:nvPr/>
        </p:nvSpPr>
        <p:spPr>
          <a:xfrm>
            <a:off x="677289" y="4399196"/>
            <a:ext cx="3835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0E2233"/>
                </a:solidFill>
                <a:effectLst/>
                <a:latin typeface="Helvetica" pitchFamily="2" charset="0"/>
              </a:rPr>
              <a:t>Raporunuzda göstermeniz gerekenler</a:t>
            </a:r>
          </a:p>
        </p:txBody>
      </p:sp>
      <p:sp>
        <p:nvSpPr>
          <p:cNvPr id="9" name="Yuvarlatılmış Dikdörtgen 8">
            <a:extLst>
              <a:ext uri="{FF2B5EF4-FFF2-40B4-BE49-F238E27FC236}">
                <a16:creationId xmlns:a16="http://schemas.microsoft.com/office/drawing/2014/main" id="{28D3DBE9-4D51-D791-7BF0-B6A40417EDBD}"/>
              </a:ext>
            </a:extLst>
          </p:cNvPr>
          <p:cNvSpPr/>
          <p:nvPr/>
        </p:nvSpPr>
        <p:spPr>
          <a:xfrm>
            <a:off x="861695" y="4866218"/>
            <a:ext cx="2449353" cy="904227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81B875B4-6944-8E56-1486-23A1EE9A34EC}"/>
              </a:ext>
            </a:extLst>
          </p:cNvPr>
          <p:cNvSpPr txBox="1"/>
          <p:nvPr/>
        </p:nvSpPr>
        <p:spPr>
          <a:xfrm>
            <a:off x="873375" y="4942402"/>
            <a:ext cx="14809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100" b="1" dirty="0">
                <a:latin typeface="HELVETICA LIGHT" panose="020B0403020202020204" pitchFamily="34" charset="0"/>
              </a:rPr>
              <a:t>Nerede kullanıldı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C3BB72E1-BD95-76B1-CFAC-AAE35C91380D}"/>
              </a:ext>
            </a:extLst>
          </p:cNvPr>
          <p:cNvSpPr txBox="1"/>
          <p:nvPr/>
        </p:nvSpPr>
        <p:spPr>
          <a:xfrm>
            <a:off x="3550529" y="4942402"/>
            <a:ext cx="14809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100" b="1" dirty="0">
                <a:latin typeface="HELVETICA LIGHT" panose="020B0403020202020204" pitchFamily="34" charset="0"/>
              </a:rPr>
              <a:t>Çalıştırma kaydı</a:t>
            </a:r>
          </a:p>
        </p:txBody>
      </p:sp>
      <p:sp>
        <p:nvSpPr>
          <p:cNvPr id="31" name="Yuvarlatılmış Dikdörtgen 30">
            <a:extLst>
              <a:ext uri="{FF2B5EF4-FFF2-40B4-BE49-F238E27FC236}">
                <a16:creationId xmlns:a16="http://schemas.microsoft.com/office/drawing/2014/main" id="{27C74207-9D5D-0A53-86B4-F545A98745FA}"/>
              </a:ext>
            </a:extLst>
          </p:cNvPr>
          <p:cNvSpPr/>
          <p:nvPr/>
        </p:nvSpPr>
        <p:spPr>
          <a:xfrm>
            <a:off x="5999882" y="4851309"/>
            <a:ext cx="2449353" cy="904227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D2D2625E-0584-EFAD-C37E-B5935700E947}"/>
              </a:ext>
            </a:extLst>
          </p:cNvPr>
          <p:cNvSpPr txBox="1"/>
          <p:nvPr/>
        </p:nvSpPr>
        <p:spPr>
          <a:xfrm>
            <a:off x="6014340" y="4927493"/>
            <a:ext cx="14809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b="1" dirty="0">
                <a:latin typeface="HELVETICA LIGHT" panose="020B0403020202020204" pitchFamily="34" charset="0"/>
              </a:rPr>
              <a:t>Katkı ölçümü</a:t>
            </a:r>
          </a:p>
        </p:txBody>
      </p:sp>
      <p:sp>
        <p:nvSpPr>
          <p:cNvPr id="33" name="Yuvarlatılmış Dikdörtgen 32">
            <a:extLst>
              <a:ext uri="{FF2B5EF4-FFF2-40B4-BE49-F238E27FC236}">
                <a16:creationId xmlns:a16="http://schemas.microsoft.com/office/drawing/2014/main" id="{C54B6AC6-9B46-268B-F654-B873740C8417}"/>
              </a:ext>
            </a:extLst>
          </p:cNvPr>
          <p:cNvSpPr/>
          <p:nvPr/>
        </p:nvSpPr>
        <p:spPr>
          <a:xfrm>
            <a:off x="8610600" y="4851309"/>
            <a:ext cx="2449353" cy="904227"/>
          </a:xfrm>
          <a:prstGeom prst="roundRect">
            <a:avLst>
              <a:gd name="adj" fmla="val 3935"/>
            </a:avLst>
          </a:prstGeom>
          <a:solidFill>
            <a:srgbClr val="ED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244891C6-F176-40DB-E9BA-88BDB358FB6A}"/>
              </a:ext>
            </a:extLst>
          </p:cNvPr>
          <p:cNvSpPr txBox="1"/>
          <p:nvPr/>
        </p:nvSpPr>
        <p:spPr>
          <a:xfrm>
            <a:off x="8688716" y="4927493"/>
            <a:ext cx="14809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b="1" dirty="0">
                <a:latin typeface="HELVETICA LIGHT" panose="020B0403020202020204" pitchFamily="34" charset="0"/>
              </a:rPr>
              <a:t>Ayrıştırma kararı</a:t>
            </a: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0E72370A-A7A9-0601-EA27-941A3F72207B}"/>
              </a:ext>
            </a:extLst>
          </p:cNvPr>
          <p:cNvSpPr txBox="1"/>
          <p:nvPr/>
        </p:nvSpPr>
        <p:spPr>
          <a:xfrm>
            <a:off x="873375" y="5284340"/>
            <a:ext cx="2437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000" dirty="0">
                <a:latin typeface="Helvetica Light" panose="020B0403020202020204" pitchFamily="34" charset="0"/>
              </a:rPr>
              <a:t>Kuantum bileşenin çözüm akışındaki yeri</a:t>
            </a:r>
          </a:p>
        </p:txBody>
      </p:sp>
      <p:sp>
        <p:nvSpPr>
          <p:cNvPr id="38" name="Metin kutusu 37">
            <a:extLst>
              <a:ext uri="{FF2B5EF4-FFF2-40B4-BE49-F238E27FC236}">
                <a16:creationId xmlns:a16="http://schemas.microsoft.com/office/drawing/2014/main" id="{FA4870A2-4C6F-B63C-6881-170121E986A3}"/>
              </a:ext>
            </a:extLst>
          </p:cNvPr>
          <p:cNvSpPr txBox="1"/>
          <p:nvPr/>
        </p:nvSpPr>
        <p:spPr>
          <a:xfrm>
            <a:off x="3550529" y="5287173"/>
            <a:ext cx="22453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000" dirty="0">
                <a:latin typeface="Helvetica Light" panose="020B0403020202020204" pitchFamily="34" charset="0"/>
              </a:rPr>
              <a:t>Örnekleyici çıktıları, gömme ve okuma sayıları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444F4A51-E411-1F95-FCBD-2AB060FAAF12}"/>
              </a:ext>
            </a:extLst>
          </p:cNvPr>
          <p:cNvSpPr txBox="1"/>
          <p:nvPr/>
        </p:nvSpPr>
        <p:spPr>
          <a:xfrm>
            <a:off x="6014340" y="5272264"/>
            <a:ext cx="2434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000" dirty="0">
                <a:latin typeface="Helvetica Light" panose="020B0403020202020204" pitchFamily="34" charset="0"/>
              </a:rPr>
              <a:t>Kuantum adımı olmadan sonuç ne kadar değişiyor?</a:t>
            </a:r>
          </a:p>
        </p:txBody>
      </p:sp>
      <p:sp>
        <p:nvSpPr>
          <p:cNvPr id="40" name="Metin kutusu 39">
            <a:extLst>
              <a:ext uri="{FF2B5EF4-FFF2-40B4-BE49-F238E27FC236}">
                <a16:creationId xmlns:a16="http://schemas.microsoft.com/office/drawing/2014/main" id="{000C87D5-CE31-DCCD-0AEB-A0F6F1C8DF94}"/>
              </a:ext>
            </a:extLst>
          </p:cNvPr>
          <p:cNvSpPr txBox="1"/>
          <p:nvPr/>
        </p:nvSpPr>
        <p:spPr>
          <a:xfrm>
            <a:off x="8595945" y="5318331"/>
            <a:ext cx="24348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000" dirty="0">
                <a:latin typeface="Helvetica Light" panose="020B0403020202020204" pitchFamily="34" charset="0"/>
              </a:rPr>
              <a:t>Problemi nasıl parçaladınız ve neden?</a:t>
            </a:r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6BA6460B-8744-5FDE-104C-91016BE996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235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4912-92E7-02BB-01FA-B245DE96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etin kutusu 23">
            <a:extLst>
              <a:ext uri="{FF2B5EF4-FFF2-40B4-BE49-F238E27FC236}">
                <a16:creationId xmlns:a16="http://schemas.microsoft.com/office/drawing/2014/main" id="{E3FD898A-FBD9-E944-DFAC-87D11D7FBB74}"/>
              </a:ext>
            </a:extLst>
          </p:cNvPr>
          <p:cNvSpPr txBox="1"/>
          <p:nvPr/>
        </p:nvSpPr>
        <p:spPr>
          <a:xfrm>
            <a:off x="457985" y="4216038"/>
            <a:ext cx="109769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Bu davranışı modelde nasıl kuracağınız size ait.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Ayrımın matematiksel karşılığını  — kısıntı değişkenlerini ve ceza yapısını — kendiniz tasarlayacaksınız.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Kritik ve normal talep ayrımı sayısaldır.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Problem_03.pdf</a:t>
            </a:r>
          </a:p>
          <a:p>
            <a:endParaRPr lang="tr-TR" sz="1200" dirty="0">
              <a:solidFill>
                <a:srgbClr val="0D2232"/>
              </a:solidFill>
              <a:latin typeface="Helvetica" pitchFamily="2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9768F84-6AF4-B0CE-BD69-625B53ADD636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Ek Problem 1: </a:t>
            </a:r>
            <a:r>
              <a:rPr lang="tr-TR" sz="2400" b="1" dirty="0">
                <a:solidFill>
                  <a:srgbClr val="153039"/>
                </a:solidFill>
                <a:latin typeface="Helvetica" pitchFamily="2" charset="0"/>
              </a:rPr>
              <a:t>Kritik talep önceliklendirme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E6FF9DE7-32CB-03B8-23D6-AC3B2A05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0180D1D1-C717-FA62-7C08-036530C1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43F40A0B-E4A7-C174-4D37-DDA66A95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29EE4967-D84F-2D63-9EFB-F7EF8C62E9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E6AAD5E-DA40-D58B-FE06-286934C41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42D35C68-AE49-C473-D8FF-092D4A68B9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9D942415-443A-A270-35D5-BE97CEDC3FB2}"/>
              </a:ext>
            </a:extLst>
          </p:cNvPr>
          <p:cNvSpPr txBox="1"/>
          <p:nvPr/>
        </p:nvSpPr>
        <p:spPr>
          <a:xfrm>
            <a:off x="457696" y="1451828"/>
            <a:ext cx="11348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>
                <a:solidFill>
                  <a:srgbClr val="24384A"/>
                </a:solidFill>
                <a:effectLst/>
                <a:latin typeface="Helvetica" pitchFamily="2" charset="0"/>
              </a:rPr>
              <a:t>Ana problemde talep tek tipti ve her bölge için tek bir kısıntı miktarı vardı. Şimdi talebi operasyonel önceliğe göre ikiye ayıracaksınız.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AC66A582-5D9C-23A0-0B29-45FC19923F48}"/>
              </a:ext>
            </a:extLst>
          </p:cNvPr>
          <p:cNvSpPr txBox="1"/>
          <p:nvPr/>
        </p:nvSpPr>
        <p:spPr>
          <a:xfrm>
            <a:off x="457696" y="3857752"/>
            <a:ext cx="11348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153039"/>
                </a:solidFill>
                <a:effectLst/>
                <a:latin typeface="Helvetica" pitchFamily="2" charset="0"/>
              </a:rPr>
              <a:t>Hedef: kaynak yetersizliğinde kritik talebi korumak için normal talebi kısmak.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B002AF7-91E5-08EC-8AC2-2BD4A672278E}"/>
              </a:ext>
            </a:extLst>
          </p:cNvPr>
          <p:cNvSpPr txBox="1"/>
          <p:nvPr/>
        </p:nvSpPr>
        <p:spPr>
          <a:xfrm>
            <a:off x="1306415" y="2071990"/>
            <a:ext cx="27871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3600" b="1" dirty="0">
                <a:solidFill>
                  <a:srgbClr val="D1271E"/>
                </a:solidFill>
                <a:effectLst/>
                <a:latin typeface="Helvetica" pitchFamily="2" charset="0"/>
              </a:rPr>
              <a:t>96</a:t>
            </a:r>
          </a:p>
          <a:p>
            <a:pPr algn="ctr"/>
            <a:r>
              <a:rPr lang="tr-TR" sz="2000" b="1" dirty="0">
                <a:solidFill>
                  <a:srgbClr val="D1271E"/>
                </a:solidFill>
                <a:latin typeface="Helvetica" pitchFamily="2" charset="0"/>
              </a:rPr>
              <a:t>Kritik Talep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B87027E-1268-9AD2-615C-DD7F1651BE46}"/>
              </a:ext>
            </a:extLst>
          </p:cNvPr>
          <p:cNvSpPr txBox="1"/>
          <p:nvPr/>
        </p:nvSpPr>
        <p:spPr>
          <a:xfrm>
            <a:off x="7171108" y="2071661"/>
            <a:ext cx="27871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3600" b="1" dirty="0">
                <a:solidFill>
                  <a:srgbClr val="007497"/>
                </a:solidFill>
                <a:latin typeface="Helvetica" pitchFamily="2" charset="0"/>
              </a:rPr>
              <a:t>504</a:t>
            </a:r>
            <a:endParaRPr lang="tr-TR" sz="3600" b="1" dirty="0">
              <a:solidFill>
                <a:srgbClr val="007497"/>
              </a:solidFill>
              <a:effectLst/>
              <a:latin typeface="Helvetica" pitchFamily="2" charset="0"/>
            </a:endParaRPr>
          </a:p>
          <a:p>
            <a:pPr algn="ctr"/>
            <a:r>
              <a:rPr lang="tr-TR" sz="2000" b="1" dirty="0">
                <a:solidFill>
                  <a:srgbClr val="007497"/>
                </a:solidFill>
                <a:latin typeface="Helvetica" pitchFamily="2" charset="0"/>
              </a:rPr>
              <a:t>Normal Talep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4666E6B1-4C05-3345-51B8-20028F812CA7}"/>
              </a:ext>
            </a:extLst>
          </p:cNvPr>
          <p:cNvSpPr txBox="1"/>
          <p:nvPr/>
        </p:nvSpPr>
        <p:spPr>
          <a:xfrm>
            <a:off x="1933370" y="2992413"/>
            <a:ext cx="1615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Toplam 4.281 m</a:t>
            </a:r>
            <a:r>
              <a:rPr lang="tr-TR" sz="1200" baseline="300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3</a:t>
            </a:r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/</a:t>
            </a:r>
            <a:r>
              <a:rPr lang="tr-TR" sz="1200" dirty="0" err="1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sa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3E01FC48-7777-641C-D8B3-A5887E16E525}"/>
              </a:ext>
            </a:extLst>
          </p:cNvPr>
          <p:cNvSpPr txBox="1"/>
          <p:nvPr/>
        </p:nvSpPr>
        <p:spPr>
          <a:xfrm>
            <a:off x="7802673" y="3026097"/>
            <a:ext cx="2021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Toplam 68.509 m</a:t>
            </a:r>
            <a:r>
              <a:rPr lang="tr-TR" sz="1200" baseline="300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3</a:t>
            </a:r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/</a:t>
            </a:r>
            <a:r>
              <a:rPr lang="tr-TR" sz="1200" dirty="0" err="1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sa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42DF006A-E21C-B23C-484C-7895AA6FBFDD}"/>
              </a:ext>
            </a:extLst>
          </p:cNvPr>
          <p:cNvSpPr txBox="1"/>
          <p:nvPr/>
        </p:nvSpPr>
        <p:spPr>
          <a:xfrm>
            <a:off x="1933370" y="3307465"/>
            <a:ext cx="34761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Hastane, acil sağlık tesisi ve kritik sanayi tesisi</a:t>
            </a:r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3D31DC42-E225-5394-3ECA-9C0F5E7C1346}"/>
              </a:ext>
            </a:extLst>
          </p:cNvPr>
          <p:cNvSpPr txBox="1"/>
          <p:nvPr/>
        </p:nvSpPr>
        <p:spPr>
          <a:xfrm>
            <a:off x="7802673" y="3303096"/>
            <a:ext cx="2021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Helvetica Light" panose="020B0403020202020204" pitchFamily="34" charset="0"/>
              </a:rPr>
              <a:t>Sıradan abone talebi</a:t>
            </a:r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89A3658A-ED0E-A459-7354-9E91C5316F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74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6233-63BF-C7DE-ECE1-9FD45EA6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B6771C40-AE39-25B4-162E-58B18FC88BBA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Ek Problem 2: </a:t>
            </a:r>
            <a:r>
              <a:rPr lang="tr-TR" sz="2400" b="1" dirty="0">
                <a:solidFill>
                  <a:srgbClr val="153039"/>
                </a:solidFill>
                <a:latin typeface="Helvetica" pitchFamily="2" charset="0"/>
              </a:rPr>
              <a:t>Arıza Altında Tahsis</a:t>
            </a: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C734FB77-3BF2-46B7-4CD8-99A9E480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C960AC56-6948-E19F-552B-D112A5DA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50AE128F-1A35-CB32-21BA-752ED463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D58F8525-FECB-5CF8-6C7E-88A0333FDD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F353ABD-C46F-E5DE-1F4D-53D8A2C7E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B581D79A-5422-E70E-A252-FDFBCAEDB2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38173FEB-4205-172A-D6C7-2FEF0011E3F6}"/>
              </a:ext>
            </a:extLst>
          </p:cNvPr>
          <p:cNvSpPr txBox="1"/>
          <p:nvPr/>
        </p:nvSpPr>
        <p:spPr>
          <a:xfrm>
            <a:off x="457696" y="1451828"/>
            <a:ext cx="11348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>
                <a:solidFill>
                  <a:srgbClr val="24384A"/>
                </a:solidFill>
                <a:effectLst/>
                <a:latin typeface="Helvetica" pitchFamily="2" charset="0"/>
              </a:rPr>
              <a:t>Şebekenin bir bölümü hasarlıyken aynı tahsis problemini çözme. Arızalı hatlar üzerinde akış olmaz.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0DF73E2-02A3-98D2-6A35-B05FD2DD459E}"/>
              </a:ext>
            </a:extLst>
          </p:cNvPr>
          <p:cNvSpPr txBox="1"/>
          <p:nvPr/>
        </p:nvSpPr>
        <p:spPr>
          <a:xfrm>
            <a:off x="689726" y="2071990"/>
            <a:ext cx="1362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007497"/>
                </a:solidFill>
                <a:effectLst/>
                <a:latin typeface="Helvetica" pitchFamily="2" charset="0"/>
              </a:rPr>
              <a:t>2.382</a:t>
            </a:r>
            <a:endParaRPr lang="tr-TR" sz="3600" b="1" dirty="0">
              <a:solidFill>
                <a:srgbClr val="007497"/>
              </a:solidFill>
              <a:latin typeface="Helvetica" pitchFamily="2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8DDBFF9-B295-5EA5-80AD-652579AD5C42}"/>
              </a:ext>
            </a:extLst>
          </p:cNvPr>
          <p:cNvSpPr txBox="1"/>
          <p:nvPr/>
        </p:nvSpPr>
        <p:spPr>
          <a:xfrm>
            <a:off x="689727" y="2710735"/>
            <a:ext cx="1817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Arıza kaydı</a:t>
            </a:r>
            <a:endParaRPr lang="tr-TR" sz="11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A6064111-7E25-AA0A-7D6C-B82AA8D76630}"/>
              </a:ext>
            </a:extLst>
          </p:cNvPr>
          <p:cNvSpPr txBox="1"/>
          <p:nvPr/>
        </p:nvSpPr>
        <p:spPr>
          <a:xfrm>
            <a:off x="3412049" y="2071990"/>
            <a:ext cx="1362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007497"/>
                </a:solidFill>
                <a:effectLst/>
                <a:latin typeface="Helvetica" pitchFamily="2" charset="0"/>
              </a:rPr>
              <a:t>5.981</a:t>
            </a:r>
            <a:endParaRPr lang="tr-TR" sz="3600" b="1" dirty="0">
              <a:solidFill>
                <a:srgbClr val="007497"/>
              </a:solidFill>
              <a:latin typeface="Helvetica" pitchFamily="2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7E0829A8-AD23-FBC5-2D32-195DD68B2ADF}"/>
              </a:ext>
            </a:extLst>
          </p:cNvPr>
          <p:cNvSpPr txBox="1"/>
          <p:nvPr/>
        </p:nvSpPr>
        <p:spPr>
          <a:xfrm>
            <a:off x="3426788" y="2710735"/>
            <a:ext cx="1817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Kullanılamaz ark</a:t>
            </a:r>
            <a:endParaRPr lang="tr-TR" sz="11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988FDF93-E779-3528-D5CD-6BB3779FA9B9}"/>
              </a:ext>
            </a:extLst>
          </p:cNvPr>
          <p:cNvSpPr txBox="1"/>
          <p:nvPr/>
        </p:nvSpPr>
        <p:spPr>
          <a:xfrm>
            <a:off x="6134372" y="2071990"/>
            <a:ext cx="1635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D1271E"/>
                </a:solidFill>
                <a:effectLst/>
                <a:latin typeface="Helvetica" pitchFamily="2" charset="0"/>
              </a:rPr>
              <a:t>%35,5</a:t>
            </a:r>
            <a:endParaRPr lang="tr-TR" sz="3600" b="1" dirty="0">
              <a:solidFill>
                <a:srgbClr val="D1271E"/>
              </a:solidFill>
              <a:latin typeface="Helvetica" pitchFamily="2" charset="0"/>
            </a:endParaRP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FD37E323-18D1-E491-C321-FE5CE5348AAD}"/>
              </a:ext>
            </a:extLst>
          </p:cNvPr>
          <p:cNvSpPr txBox="1"/>
          <p:nvPr/>
        </p:nvSpPr>
        <p:spPr>
          <a:xfrm>
            <a:off x="6185115" y="2710735"/>
            <a:ext cx="1817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Taşıma gücü daralması</a:t>
            </a:r>
            <a:endParaRPr lang="tr-TR" sz="11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DF9F8AA0-4E3E-267D-4EDD-FE2F658ABECA}"/>
              </a:ext>
            </a:extLst>
          </p:cNvPr>
          <p:cNvSpPr txBox="1"/>
          <p:nvPr/>
        </p:nvSpPr>
        <p:spPr>
          <a:xfrm>
            <a:off x="9130316" y="2071990"/>
            <a:ext cx="1635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007497"/>
                </a:solidFill>
                <a:effectLst/>
                <a:latin typeface="Helvetica" pitchFamily="2" charset="0"/>
              </a:rPr>
              <a:t>4</a:t>
            </a:r>
            <a:endParaRPr lang="tr-TR" sz="3600" b="1" dirty="0">
              <a:solidFill>
                <a:srgbClr val="007497"/>
              </a:solidFill>
              <a:latin typeface="Helvetica" pitchFamily="2" charset="0"/>
            </a:endParaRP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F286EF2-154F-9ECC-D27C-D88DAD42933B}"/>
              </a:ext>
            </a:extLst>
          </p:cNvPr>
          <p:cNvSpPr txBox="1"/>
          <p:nvPr/>
        </p:nvSpPr>
        <p:spPr>
          <a:xfrm>
            <a:off x="9130316" y="2754699"/>
            <a:ext cx="1817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100" dirty="0">
                <a:solidFill>
                  <a:schemeClr val="bg1">
                    <a:lumMod val="50000"/>
                  </a:schemeClr>
                </a:solidFill>
                <a:effectLst/>
                <a:latin typeface="Helvetica" pitchFamily="2" charset="0"/>
              </a:rPr>
              <a:t>Farklı arıza modu</a:t>
            </a:r>
            <a:endParaRPr lang="tr-TR" sz="11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C0B84AE8-EDB2-71FA-1EEA-69E04DA415BB}"/>
              </a:ext>
            </a:extLst>
          </p:cNvPr>
          <p:cNvSpPr txBox="1"/>
          <p:nvPr/>
        </p:nvSpPr>
        <p:spPr>
          <a:xfrm>
            <a:off x="457407" y="3609153"/>
            <a:ext cx="11348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b="1" dirty="0">
                <a:solidFill>
                  <a:srgbClr val="153039"/>
                </a:solidFill>
                <a:effectLst/>
                <a:latin typeface="Helvetica" pitchFamily="2" charset="0"/>
              </a:rPr>
              <a:t>Hedef: arıza altında tahsisi yeniden sağlamak.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B2A3A6D2-03C6-F4CC-D855-E40AE261DE8C}"/>
              </a:ext>
            </a:extLst>
          </p:cNvPr>
          <p:cNvSpPr txBox="1"/>
          <p:nvPr/>
        </p:nvSpPr>
        <p:spPr>
          <a:xfrm>
            <a:off x="457696" y="3967439"/>
            <a:ext cx="109769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Bu davranışı modelde nasıl kuracağınız size ait.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Ayrımın matematiksel karşılığını  — kısıntı değişkenlerini ve ceza yapısını — kendiniz tasarlayacaksınız.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200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rgbClr val="0D2232"/>
                </a:solidFill>
                <a:latin typeface="Helvetica" pitchFamily="2" charset="0"/>
              </a:rPr>
              <a:t>Problem_04.pdf</a:t>
            </a:r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FA7601FF-2A43-C4B6-7B6C-15160B030D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61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E9EF-7125-D033-0D1A-A6C7AFF6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064DBAF7-68EE-1EDC-5901-4D6DF0B52FE3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KISITLAMALAR</a:t>
            </a:r>
            <a:endParaRPr lang="tr-TR" sz="2400" b="1" dirty="0">
              <a:solidFill>
                <a:srgbClr val="153039"/>
              </a:solidFill>
              <a:latin typeface="Helvetica" pitchFamily="2" charset="0"/>
            </a:endParaRP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2E340C91-08C4-A743-8756-EA01CD96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9227D3DD-D549-CA3B-5DD2-497311DA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1899520C-8B62-02A7-3733-E017EBFC9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09E0B12B-1E0D-CEDB-2CBC-070483EAEB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B65E2EC-2C6D-6FC3-3673-BA58E7DC0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1E1B355-735D-BED0-6195-CB5BE8B6C9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pic>
        <p:nvPicPr>
          <p:cNvPr id="10" name="Resim 9" descr="Download D-Wave Systems Logo in SVG Vector or PNG File Format - Logo.wine">
            <a:extLst>
              <a:ext uri="{FF2B5EF4-FFF2-40B4-BE49-F238E27FC236}">
                <a16:creationId xmlns:a16="http://schemas.microsoft.com/office/drawing/2014/main" id="{D71A22E5-6F6A-A246-B2CC-9E8C4BC4B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  <p:pic>
        <p:nvPicPr>
          <p:cNvPr id="13" name="Resim 12" descr="Download D-Wave Systems Logo in SVG Vector or PNG File Format - Logo.wine">
            <a:extLst>
              <a:ext uri="{FF2B5EF4-FFF2-40B4-BE49-F238E27FC236}">
                <a16:creationId xmlns:a16="http://schemas.microsoft.com/office/drawing/2014/main" id="{962996DE-DC6A-6919-617A-9DA98387CD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940" y="2700173"/>
            <a:ext cx="3544690" cy="2363126"/>
          </a:xfrm>
          <a:prstGeom prst="rect">
            <a:avLst/>
          </a:prstGeom>
        </p:spPr>
      </p:pic>
      <p:pic>
        <p:nvPicPr>
          <p:cNvPr id="17" name="Resim 16" descr="Solver Max - PuLP">
            <a:extLst>
              <a:ext uri="{FF2B5EF4-FFF2-40B4-BE49-F238E27FC236}">
                <a16:creationId xmlns:a16="http://schemas.microsoft.com/office/drawing/2014/main" id="{83718525-19A0-CDEA-0336-CABB552EEB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7608" y="1768834"/>
            <a:ext cx="1978483" cy="118709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4AC0E26F-4225-9ACF-4C50-B6CEE1411FD6}"/>
              </a:ext>
            </a:extLst>
          </p:cNvPr>
          <p:cNvSpPr txBox="1"/>
          <p:nvPr/>
        </p:nvSpPr>
        <p:spPr>
          <a:xfrm>
            <a:off x="1153288" y="4468974"/>
            <a:ext cx="27871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3600" b="1" dirty="0">
                <a:solidFill>
                  <a:srgbClr val="D1271E"/>
                </a:solidFill>
                <a:effectLst/>
                <a:latin typeface="Helvetica" pitchFamily="2" charset="0"/>
              </a:rPr>
              <a:t>60 dk</a:t>
            </a:r>
          </a:p>
          <a:p>
            <a:pPr algn="ctr"/>
            <a:r>
              <a:rPr lang="tr-TR" sz="2000" b="1" dirty="0">
                <a:solidFill>
                  <a:srgbClr val="D1271E"/>
                </a:solidFill>
                <a:latin typeface="Helvetica" pitchFamily="2" charset="0"/>
              </a:rPr>
              <a:t>Kullanım Limiti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63A05B9-BF0B-E1B5-8FAF-39BD29B7B4AA}"/>
              </a:ext>
            </a:extLst>
          </p:cNvPr>
          <p:cNvSpPr txBox="1"/>
          <p:nvPr/>
        </p:nvSpPr>
        <p:spPr>
          <a:xfrm>
            <a:off x="6786269" y="2131546"/>
            <a:ext cx="3478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Yapay Zeka Kullanımı</a:t>
            </a:r>
            <a:endParaRPr lang="tr-TR" sz="2400" b="1" dirty="0">
              <a:solidFill>
                <a:srgbClr val="153039"/>
              </a:solidFill>
              <a:latin typeface="Helvetica" pitchFamily="2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D5AD6F1-8E1D-1E9A-E342-63A2626D7532}"/>
              </a:ext>
            </a:extLst>
          </p:cNvPr>
          <p:cNvSpPr txBox="1"/>
          <p:nvPr/>
        </p:nvSpPr>
        <p:spPr>
          <a:xfrm>
            <a:off x="6786269" y="2828835"/>
            <a:ext cx="4815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rgbClr val="0D2231"/>
                </a:solidFill>
                <a:latin typeface="Helvetica" pitchFamily="2" charset="0"/>
              </a:rPr>
              <a:t>Claude </a:t>
            </a:r>
            <a:r>
              <a:rPr lang="tr-TR" sz="2000" b="1" dirty="0" err="1">
                <a:solidFill>
                  <a:srgbClr val="0D2231"/>
                </a:solidFill>
                <a:latin typeface="Helvetica" pitchFamily="2" charset="0"/>
              </a:rPr>
              <a:t>Code</a:t>
            </a:r>
            <a:r>
              <a:rPr lang="tr-TR" sz="2000" b="1" dirty="0">
                <a:solidFill>
                  <a:srgbClr val="0D2231"/>
                </a:solidFill>
                <a:latin typeface="Helvetica" pitchFamily="2" charset="0"/>
              </a:rPr>
              <a:t>, </a:t>
            </a:r>
            <a:r>
              <a:rPr lang="tr-TR" sz="2000" b="1" dirty="0" err="1">
                <a:solidFill>
                  <a:srgbClr val="0D2231"/>
                </a:solidFill>
                <a:latin typeface="Helvetica" pitchFamily="2" charset="0"/>
              </a:rPr>
              <a:t>Codex</a:t>
            </a:r>
            <a:r>
              <a:rPr lang="tr-TR" sz="2000" b="1" dirty="0">
                <a:solidFill>
                  <a:srgbClr val="0D2231"/>
                </a:solidFill>
                <a:latin typeface="Helvetica" pitchFamily="2" charset="0"/>
              </a:rPr>
              <a:t>, Copilot gibi </a:t>
            </a:r>
            <a:r>
              <a:rPr lang="tr-TR" sz="2000" b="1" dirty="0" err="1">
                <a:solidFill>
                  <a:srgbClr val="0D2231"/>
                </a:solidFill>
                <a:latin typeface="Helvetica" pitchFamily="2" charset="0"/>
              </a:rPr>
              <a:t>agentic</a:t>
            </a:r>
            <a:r>
              <a:rPr lang="tr-TR" sz="2000" b="1" dirty="0">
                <a:solidFill>
                  <a:srgbClr val="0D2231"/>
                </a:solidFill>
                <a:latin typeface="Helvetica" pitchFamily="2" charset="0"/>
              </a:rPr>
              <a:t> </a:t>
            </a:r>
            <a:r>
              <a:rPr lang="tr-TR" sz="2000" b="1" dirty="0" err="1">
                <a:solidFill>
                  <a:srgbClr val="0D2231"/>
                </a:solidFill>
                <a:latin typeface="Helvetica" pitchFamily="2" charset="0"/>
              </a:rPr>
              <a:t>coding</a:t>
            </a:r>
            <a:r>
              <a:rPr lang="tr-TR" sz="2000" b="1" dirty="0">
                <a:solidFill>
                  <a:srgbClr val="0D2231"/>
                </a:solidFill>
                <a:latin typeface="Helvetica" pitchFamily="2" charset="0"/>
              </a:rPr>
              <a:t> araçları kullanılması yasaktır.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45A311B-186F-0A52-1B2F-CD3AE0958145}"/>
              </a:ext>
            </a:extLst>
          </p:cNvPr>
          <p:cNvSpPr txBox="1"/>
          <p:nvPr/>
        </p:nvSpPr>
        <p:spPr>
          <a:xfrm>
            <a:off x="6786269" y="3959638"/>
            <a:ext cx="4815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rgbClr val="0D2231"/>
                </a:solidFill>
                <a:latin typeface="Helvetica" pitchFamily="2" charset="0"/>
              </a:rPr>
              <a:t>Sadece web terminalleri kullanımı serbesttir.</a:t>
            </a:r>
          </a:p>
        </p:txBody>
      </p:sp>
    </p:spTree>
    <p:extLst>
      <p:ext uri="{BB962C8B-B14F-4D97-AF65-F5344CB8AC3E}">
        <p14:creationId xmlns:p14="http://schemas.microsoft.com/office/powerpoint/2010/main" val="2734204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96359-11BD-01A0-3696-05350BA0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DE5F18B8-C15E-B67E-866F-4E27D2790513}"/>
              </a:ext>
            </a:extLst>
          </p:cNvPr>
          <p:cNvSpPr txBox="1"/>
          <p:nvPr/>
        </p:nvSpPr>
        <p:spPr>
          <a:xfrm>
            <a:off x="798239" y="3167390"/>
            <a:ext cx="5297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Teslim ve Değerlendirme</a:t>
            </a: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F3730A66-108F-D809-BD6F-91647B3B4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264" y="159537"/>
            <a:ext cx="1137252" cy="1302871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B9EEBEEB-C3E0-832C-D77A-18DAE57C9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3" y="242346"/>
            <a:ext cx="1137252" cy="113725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38FF274-11BE-BD02-551C-5ADE69DCF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511" y="5679440"/>
            <a:ext cx="993841" cy="117856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6BBBA0F5-3179-D997-90EF-48217ACBF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735" y="5852033"/>
            <a:ext cx="1504539" cy="846303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6E689E5-81D0-0CC9-58DE-23C654AEA9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189" y="5679440"/>
            <a:ext cx="956920" cy="117856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586F7941-C468-5FBE-4DE0-E360438FF0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920" y="5679440"/>
            <a:ext cx="1329728" cy="13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02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95AA-EEA6-417C-C91C-9887922A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DF1868ED-7141-E2BA-9E29-26C2DA10085B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TESLİM FORMATI</a:t>
            </a:r>
            <a:endParaRPr lang="tr-TR" sz="2400" b="1" dirty="0">
              <a:solidFill>
                <a:srgbClr val="153039"/>
              </a:solidFill>
              <a:latin typeface="Helvetica" pitchFamily="2" charset="0"/>
            </a:endParaRP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90FDE52A-FD60-59AA-F543-8145EBAE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E835C18C-29EC-D935-9CF5-0F37AE33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7C123311-67F0-C23E-F10F-19EC4EC2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9490CCBF-7A33-91B6-F093-D779C2DAD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608A1D3-E9E1-5ADE-EE53-EE93E2C61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35196B6-737E-6AB9-9DEF-4569A9EE93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CA9C7620-0B52-565F-1A8A-F37E4D48A0C2}"/>
              </a:ext>
            </a:extLst>
          </p:cNvPr>
          <p:cNvSpPr txBox="1"/>
          <p:nvPr/>
        </p:nvSpPr>
        <p:spPr>
          <a:xfrm>
            <a:off x="728661" y="1462408"/>
            <a:ext cx="3424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Ne göndereceksiniz?</a:t>
            </a:r>
            <a:endParaRPr lang="tr-TR" sz="2400" b="1" dirty="0">
              <a:latin typeface="Helvetica" pitchFamily="2" charset="0"/>
            </a:endParaRPr>
          </a:p>
        </p:txBody>
      </p:sp>
      <p:sp>
        <p:nvSpPr>
          <p:cNvPr id="9" name="Yuvarlatılmış Dikdörtgen 8">
            <a:extLst>
              <a:ext uri="{FF2B5EF4-FFF2-40B4-BE49-F238E27FC236}">
                <a16:creationId xmlns:a16="http://schemas.microsoft.com/office/drawing/2014/main" id="{CF47A0EF-D695-DA25-C8E9-0C610D3910F9}"/>
              </a:ext>
            </a:extLst>
          </p:cNvPr>
          <p:cNvSpPr/>
          <p:nvPr/>
        </p:nvSpPr>
        <p:spPr>
          <a:xfrm>
            <a:off x="728661" y="2187697"/>
            <a:ext cx="4329476" cy="3425501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20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F173D51-7A50-080C-BD2A-30321CE7EECC}"/>
              </a:ext>
            </a:extLst>
          </p:cNvPr>
          <p:cNvSpPr txBox="1"/>
          <p:nvPr/>
        </p:nvSpPr>
        <p:spPr>
          <a:xfrm>
            <a:off x="1147667" y="2346175"/>
            <a:ext cx="30058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submissions/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└── &lt;Takım_Adınız&gt;/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├── problem_01/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├── pump_selection.csv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└── qubo_run.json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├── problem_02/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├── source_dispatch.csv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├── pump_operation.csv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├── arc_flows.csv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├── tank_levels.csv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├── demand_service.csv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│ └── solution_summary.json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├── problem_03/</a:t>
            </a:r>
          </a:p>
          <a:p>
            <a:pPr marL="0" marR="0">
              <a:buNone/>
            </a:pPr>
            <a:r>
              <a:rPr lang="tr-TR" sz="1400" noProof="1">
                <a:solidFill>
                  <a:srgbClr val="D0E1ED"/>
                </a:solidFill>
                <a:effectLst/>
                <a:latin typeface="Helvetica" pitchFamily="2" charset="0"/>
              </a:rPr>
              <a:t>└── problem_04/</a:t>
            </a:r>
          </a:p>
        </p:txBody>
      </p:sp>
      <p:sp>
        <p:nvSpPr>
          <p:cNvPr id="14" name="Yuvarlatılmış Dikdörtgen 13">
            <a:extLst>
              <a:ext uri="{FF2B5EF4-FFF2-40B4-BE49-F238E27FC236}">
                <a16:creationId xmlns:a16="http://schemas.microsoft.com/office/drawing/2014/main" id="{82EB8B1E-386B-F0AD-39B1-2EFA7D2ABA63}"/>
              </a:ext>
            </a:extLst>
          </p:cNvPr>
          <p:cNvSpPr/>
          <p:nvPr/>
        </p:nvSpPr>
        <p:spPr>
          <a:xfrm>
            <a:off x="5464738" y="2187697"/>
            <a:ext cx="5542889" cy="1512433"/>
          </a:xfrm>
          <a:prstGeom prst="roundRect">
            <a:avLst>
              <a:gd name="adj" fmla="val 3935"/>
            </a:avLst>
          </a:prstGeom>
          <a:solidFill>
            <a:srgbClr val="E0ED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2000" dirty="0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60B3FBBF-13B0-D58E-9108-79868F26BE06}"/>
              </a:ext>
            </a:extLst>
          </p:cNvPr>
          <p:cNvSpPr txBox="1"/>
          <p:nvPr/>
        </p:nvSpPr>
        <p:spPr>
          <a:xfrm>
            <a:off x="5569376" y="2360526"/>
            <a:ext cx="53336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Her problem için gönderi formatı dosyası verilecek.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400" b="1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2"/>
                </a:solidFill>
                <a:latin typeface="Helvetica" pitchFamily="2" charset="0"/>
              </a:rPr>
              <a:t>Eksik dosya gönderileri değerlendirmeye </a:t>
            </a:r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alınmaz.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sz="1400" b="1" dirty="0">
              <a:solidFill>
                <a:srgbClr val="0D2232"/>
              </a:solidFill>
              <a:latin typeface="Helvetica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2"/>
                </a:solidFill>
                <a:latin typeface="Helvetica" pitchFamily="2" charset="0"/>
              </a:rPr>
              <a:t>Format dışında gönderim değerlendirmeye </a:t>
            </a:r>
            <a:r>
              <a:rPr lang="tr-TR" sz="1400" b="1" dirty="0">
                <a:solidFill>
                  <a:srgbClr val="0D2232"/>
                </a:solidFill>
                <a:latin typeface="Helvetica" pitchFamily="2" charset="0"/>
              </a:rPr>
              <a:t>alınmaz.</a:t>
            </a:r>
          </a:p>
        </p:txBody>
      </p:sp>
      <p:pic>
        <p:nvPicPr>
          <p:cNvPr id="5" name="Resim 4" descr="Download D-Wave Systems Logo in SVG Vector or PNG File Format - Logo.wine">
            <a:extLst>
              <a:ext uri="{FF2B5EF4-FFF2-40B4-BE49-F238E27FC236}">
                <a16:creationId xmlns:a16="http://schemas.microsoft.com/office/drawing/2014/main" id="{3D2BD3DA-C900-7D61-F72B-84FBC65FE4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090DB02-CB10-AFA5-9195-4CE6003DDA46}"/>
              </a:ext>
            </a:extLst>
          </p:cNvPr>
          <p:cNvSpPr txBox="1"/>
          <p:nvPr/>
        </p:nvSpPr>
        <p:spPr>
          <a:xfrm>
            <a:off x="7291876" y="4667109"/>
            <a:ext cx="3220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hlinkClick r:id="rId8"/>
              </a:rPr>
              <a:t>https://hackathon.qndco.com</a:t>
            </a:r>
            <a:endParaRPr lang="tr-TR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A61FEF26-FB96-DDB1-AE1C-3B044DE4E6B1}"/>
              </a:ext>
            </a:extLst>
          </p:cNvPr>
          <p:cNvSpPr txBox="1"/>
          <p:nvPr/>
        </p:nvSpPr>
        <p:spPr>
          <a:xfrm>
            <a:off x="5477143" y="4668296"/>
            <a:ext cx="342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000000"/>
                </a:solidFill>
                <a:effectLst/>
                <a:latin typeface="Helvetica" pitchFamily="2" charset="0"/>
              </a:rPr>
              <a:t>Gönderi Adresi:</a:t>
            </a:r>
            <a:endParaRPr lang="tr-TR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243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586E-9CD3-8E8A-3309-813AD35A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Yuvarlatılmış Dikdörtgen 9">
            <a:extLst>
              <a:ext uri="{FF2B5EF4-FFF2-40B4-BE49-F238E27FC236}">
                <a16:creationId xmlns:a16="http://schemas.microsoft.com/office/drawing/2014/main" id="{A6B3E009-4388-0DD2-4F96-CD72D3A5A098}"/>
              </a:ext>
            </a:extLst>
          </p:cNvPr>
          <p:cNvSpPr/>
          <p:nvPr/>
        </p:nvSpPr>
        <p:spPr>
          <a:xfrm>
            <a:off x="677289" y="4268258"/>
            <a:ext cx="11042248" cy="611652"/>
          </a:xfrm>
          <a:prstGeom prst="roundRect">
            <a:avLst>
              <a:gd name="adj" fmla="val 20130"/>
            </a:avLst>
          </a:prstGeom>
          <a:solidFill>
            <a:srgbClr val="FCE2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32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EBCC815-4DF1-2FD1-DEBF-E8D3DE73081C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Puan Dağılımı</a:t>
            </a:r>
            <a:endParaRPr lang="tr-TR" sz="2400" b="1" dirty="0">
              <a:solidFill>
                <a:srgbClr val="153039"/>
              </a:solidFill>
              <a:latin typeface="Helvetica" pitchFamily="2" charset="0"/>
            </a:endParaRP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7E8EBEF9-D888-F0EF-0E78-31B81AF6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EBC0FD5D-A1A7-1DF4-845F-9BFB47A8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5C88D156-4B03-AD65-3708-B7E905BE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FE83CE70-79F1-7842-4F58-C91F87E40C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5A34B06-212D-B4FE-A9F0-0BDABE839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7A941785-6357-16AF-8987-5E09566AA8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DF91A04-86DA-7DEF-12CE-9D718B34B097}"/>
              </a:ext>
            </a:extLst>
          </p:cNvPr>
          <p:cNvSpPr txBox="1"/>
          <p:nvPr/>
        </p:nvSpPr>
        <p:spPr>
          <a:xfrm>
            <a:off x="1364054" y="4339252"/>
            <a:ext cx="10283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>
                <a:latin typeface="Helvetica" pitchFamily="2" charset="0"/>
              </a:rPr>
              <a:t>Teknik puanların tamamı fizibiliteye bağlıdır. Kısıtları sağlamayan bir gönderi, çözüm kalitesinden bağımsız olarak o problemden 0 (sıfır) puan alır.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17C498-5103-ADB8-6AA6-5121DD0FF47C}"/>
              </a:ext>
            </a:extLst>
          </p:cNvPr>
          <p:cNvSpPr/>
          <p:nvPr/>
        </p:nvSpPr>
        <p:spPr>
          <a:xfrm>
            <a:off x="939985" y="4495658"/>
            <a:ext cx="180000" cy="180000"/>
          </a:xfrm>
          <a:prstGeom prst="ellipse">
            <a:avLst/>
          </a:prstGeom>
          <a:solidFill>
            <a:srgbClr val="D1271E"/>
          </a:solidFill>
          <a:ln>
            <a:solidFill>
              <a:srgbClr val="D127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36" name="Tablo 35">
            <a:extLst>
              <a:ext uri="{FF2B5EF4-FFF2-40B4-BE49-F238E27FC236}">
                <a16:creationId xmlns:a16="http://schemas.microsoft.com/office/drawing/2014/main" id="{14A36125-DE45-14DC-F28F-908D048C8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584993"/>
              </p:ext>
            </p:extLst>
          </p:nvPr>
        </p:nvGraphicFramePr>
        <p:xfrm>
          <a:off x="955940" y="1861881"/>
          <a:ext cx="103978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3987">
                  <a:extLst>
                    <a:ext uri="{9D8B030D-6E8A-4147-A177-3AD203B41FA5}">
                      <a16:colId xmlns:a16="http://schemas.microsoft.com/office/drawing/2014/main" val="1791332489"/>
                    </a:ext>
                  </a:extLst>
                </a:gridCol>
                <a:gridCol w="2333873">
                  <a:extLst>
                    <a:ext uri="{9D8B030D-6E8A-4147-A177-3AD203B41FA5}">
                      <a16:colId xmlns:a16="http://schemas.microsoft.com/office/drawing/2014/main" val="236882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b="0" i="0" dirty="0">
                          <a:latin typeface="Helvetica" pitchFamily="2" charset="0"/>
                        </a:rPr>
                        <a:t>Problem Listesi</a:t>
                      </a:r>
                    </a:p>
                  </a:txBody>
                  <a:tcPr>
                    <a:solidFill>
                      <a:srgbClr val="0D22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i="0" dirty="0">
                          <a:latin typeface="Helvetica" pitchFamily="2" charset="0"/>
                        </a:rPr>
                        <a:t>Puan</a:t>
                      </a:r>
                    </a:p>
                  </a:txBody>
                  <a:tcPr anchor="ctr">
                    <a:solidFill>
                      <a:srgbClr val="0D22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53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b="1" i="0" dirty="0">
                          <a:latin typeface="Helvetica" pitchFamily="2" charset="0"/>
                        </a:rPr>
                        <a:t>Ön Problem: </a:t>
                      </a:r>
                      <a:r>
                        <a:rPr lang="tr-TR" sz="1400" b="0" i="0" dirty="0">
                          <a:latin typeface="Helvetica" pitchFamily="2" charset="0"/>
                        </a:rPr>
                        <a:t>Pompa kombinasyonu seçimi</a:t>
                      </a:r>
                    </a:p>
                  </a:txBody>
                  <a:tcPr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1" i="0" dirty="0">
                          <a:latin typeface="Helvetica" pitchFamily="2" charset="0"/>
                        </a:rPr>
                        <a:t>10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06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b="1" i="0" dirty="0">
                          <a:latin typeface="Helvetica" pitchFamily="2" charset="0"/>
                        </a:rPr>
                        <a:t>Ana Problem: </a:t>
                      </a:r>
                      <a:r>
                        <a:rPr lang="tr-TR" sz="1400" b="0" i="0" dirty="0">
                          <a:latin typeface="Helvetica" pitchFamily="2" charset="0"/>
                        </a:rPr>
                        <a:t>Kaynak–Bölge Tahsisi + Pompa Aç/Kapa Çizelgeleme + Rezervuar Stok Dengeleme</a:t>
                      </a:r>
                    </a:p>
                  </a:txBody>
                  <a:tcPr>
                    <a:solidFill>
                      <a:srgbClr val="E0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1" i="0" dirty="0">
                          <a:latin typeface="Helvetica" pitchFamily="2" charset="0"/>
                        </a:rPr>
                        <a:t>50</a:t>
                      </a:r>
                    </a:p>
                  </a:txBody>
                  <a:tcPr anchor="ctr">
                    <a:solidFill>
                      <a:srgbClr val="E0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04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b="1" i="0" dirty="0">
                          <a:latin typeface="Helvetica" pitchFamily="2" charset="0"/>
                        </a:rPr>
                        <a:t>Ek Problem 1: </a:t>
                      </a:r>
                      <a:r>
                        <a:rPr lang="tr-TR" sz="1400" b="0" dirty="0">
                          <a:solidFill>
                            <a:srgbClr val="153039"/>
                          </a:solidFill>
                          <a:latin typeface="Helvetica" pitchFamily="2" charset="0"/>
                        </a:rPr>
                        <a:t>Kritik talep önceliklendirme</a:t>
                      </a:r>
                      <a:endParaRPr lang="tr-TR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1" i="0" dirty="0">
                          <a:latin typeface="Helvetica" pitchFamily="2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505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b="1" i="0" dirty="0">
                          <a:latin typeface="Helvetica" pitchFamily="2" charset="0"/>
                        </a:rPr>
                        <a:t>Ek Problem 2: </a:t>
                      </a:r>
                      <a:r>
                        <a:rPr lang="tr-TR" sz="1400" b="0" dirty="0">
                          <a:solidFill>
                            <a:srgbClr val="153039"/>
                          </a:solidFill>
                          <a:latin typeface="Helvetica" pitchFamily="2" charset="0"/>
                        </a:rPr>
                        <a:t>Arıza Altında Tahsis</a:t>
                      </a:r>
                      <a:endParaRPr lang="tr-TR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E0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1" i="0" dirty="0">
                          <a:latin typeface="Helvetica" pitchFamily="2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E0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11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400" b="1" i="0" dirty="0">
                          <a:latin typeface="Helvetica" pitchFamily="2" charset="0"/>
                        </a:rPr>
                        <a:t>Sunum ve Rapor: </a:t>
                      </a:r>
                      <a:r>
                        <a:rPr lang="tr-TR" sz="1400" b="0" i="0" dirty="0">
                          <a:latin typeface="Helvetica" pitchFamily="2" charset="0"/>
                        </a:rPr>
                        <a:t>Hakem değerlendirmesi</a:t>
                      </a:r>
                      <a:endParaRPr lang="tr-TR" sz="1400" b="1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1" i="0" dirty="0">
                          <a:latin typeface="Helvetica" pitchFamily="2" charset="0"/>
                        </a:rPr>
                        <a:t>40</a:t>
                      </a:r>
                    </a:p>
                  </a:txBody>
                  <a:tcPr anchor="ctr">
                    <a:solidFill>
                      <a:srgbClr val="ED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310271"/>
                  </a:ext>
                </a:extLst>
              </a:tr>
            </a:tbl>
          </a:graphicData>
        </a:graphic>
      </p:graphicFrame>
      <p:sp>
        <p:nvSpPr>
          <p:cNvPr id="42" name="Yuvarlatılmış Dikdörtgen 41">
            <a:extLst>
              <a:ext uri="{FF2B5EF4-FFF2-40B4-BE49-F238E27FC236}">
                <a16:creationId xmlns:a16="http://schemas.microsoft.com/office/drawing/2014/main" id="{BC521D7A-0D5D-6FC2-6090-EA0E67C1A2CB}"/>
              </a:ext>
            </a:extLst>
          </p:cNvPr>
          <p:cNvSpPr/>
          <p:nvPr/>
        </p:nvSpPr>
        <p:spPr>
          <a:xfrm>
            <a:off x="2020813" y="5089803"/>
            <a:ext cx="2389144" cy="713497"/>
          </a:xfrm>
          <a:prstGeom prst="roundRect">
            <a:avLst>
              <a:gd name="adj" fmla="val 3935"/>
            </a:avLst>
          </a:prstGeom>
          <a:solidFill>
            <a:srgbClr val="EDF5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>
                <a:solidFill>
                  <a:srgbClr val="0D2231"/>
                </a:solidFill>
              </a:rPr>
              <a:t>Fizibilite</a:t>
            </a:r>
          </a:p>
        </p:txBody>
      </p:sp>
      <p:sp>
        <p:nvSpPr>
          <p:cNvPr id="43" name="Yuvarlatılmış Dikdörtgen 42">
            <a:extLst>
              <a:ext uri="{FF2B5EF4-FFF2-40B4-BE49-F238E27FC236}">
                <a16:creationId xmlns:a16="http://schemas.microsoft.com/office/drawing/2014/main" id="{0DA4DE05-9983-7008-2A4E-E1A6F29197E2}"/>
              </a:ext>
            </a:extLst>
          </p:cNvPr>
          <p:cNvSpPr/>
          <p:nvPr/>
        </p:nvSpPr>
        <p:spPr>
          <a:xfrm>
            <a:off x="4874142" y="5089803"/>
            <a:ext cx="2389144" cy="713497"/>
          </a:xfrm>
          <a:prstGeom prst="roundRect">
            <a:avLst>
              <a:gd name="adj" fmla="val 3935"/>
            </a:avLst>
          </a:prstGeom>
          <a:solidFill>
            <a:srgbClr val="768B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/>
              <a:t>Çözüm Kalitesi</a:t>
            </a:r>
          </a:p>
        </p:txBody>
      </p:sp>
      <p:sp>
        <p:nvSpPr>
          <p:cNvPr id="44" name="Yuvarlatılmış Dikdörtgen 43">
            <a:extLst>
              <a:ext uri="{FF2B5EF4-FFF2-40B4-BE49-F238E27FC236}">
                <a16:creationId xmlns:a16="http://schemas.microsoft.com/office/drawing/2014/main" id="{B19A8431-07FE-961C-00B9-AC0D9F47B659}"/>
              </a:ext>
            </a:extLst>
          </p:cNvPr>
          <p:cNvSpPr/>
          <p:nvPr/>
        </p:nvSpPr>
        <p:spPr>
          <a:xfrm>
            <a:off x="7727471" y="5089803"/>
            <a:ext cx="2389144" cy="713497"/>
          </a:xfrm>
          <a:prstGeom prst="roundRect">
            <a:avLst>
              <a:gd name="adj" fmla="val 3935"/>
            </a:avLst>
          </a:prstGeom>
          <a:solidFill>
            <a:srgbClr val="0D22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/>
              <a:t>Yöntem</a:t>
            </a:r>
          </a:p>
        </p:txBody>
      </p:sp>
      <p:sp>
        <p:nvSpPr>
          <p:cNvPr id="54" name="Sağ Ok 53">
            <a:extLst>
              <a:ext uri="{FF2B5EF4-FFF2-40B4-BE49-F238E27FC236}">
                <a16:creationId xmlns:a16="http://schemas.microsoft.com/office/drawing/2014/main" id="{2DD15D38-AD7D-DD8E-E0A7-B31ABE5DC480}"/>
              </a:ext>
            </a:extLst>
          </p:cNvPr>
          <p:cNvSpPr/>
          <p:nvPr/>
        </p:nvSpPr>
        <p:spPr>
          <a:xfrm>
            <a:off x="4409957" y="5370171"/>
            <a:ext cx="636608" cy="218070"/>
          </a:xfrm>
          <a:prstGeom prst="rightArrow">
            <a:avLst/>
          </a:prstGeom>
          <a:solidFill>
            <a:srgbClr val="0D2231"/>
          </a:solidFill>
          <a:ln>
            <a:solidFill>
              <a:srgbClr val="0D22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5" name="Sağ Ok 54">
            <a:extLst>
              <a:ext uri="{FF2B5EF4-FFF2-40B4-BE49-F238E27FC236}">
                <a16:creationId xmlns:a16="http://schemas.microsoft.com/office/drawing/2014/main" id="{05A29387-8B24-02C0-4C28-6935CF81B2EF}"/>
              </a:ext>
            </a:extLst>
          </p:cNvPr>
          <p:cNvSpPr/>
          <p:nvPr/>
        </p:nvSpPr>
        <p:spPr>
          <a:xfrm>
            <a:off x="7177075" y="5370171"/>
            <a:ext cx="636608" cy="218070"/>
          </a:xfrm>
          <a:prstGeom prst="rightArrow">
            <a:avLst/>
          </a:prstGeom>
          <a:solidFill>
            <a:srgbClr val="EDF5F9"/>
          </a:solidFill>
          <a:ln>
            <a:solidFill>
              <a:srgbClr val="0D22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5" name="Resim 4" descr="Download D-Wave Systems Logo in SVG Vector or PNG File Format - Logo.wine">
            <a:extLst>
              <a:ext uri="{FF2B5EF4-FFF2-40B4-BE49-F238E27FC236}">
                <a16:creationId xmlns:a16="http://schemas.microsoft.com/office/drawing/2014/main" id="{F5B5EA8B-841B-C56D-3BFF-EECDCFF07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7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E68C-7347-725F-0471-D694EDD1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FFCF0E9C-9658-97D7-806C-0639BD31B52C}"/>
              </a:ext>
            </a:extLst>
          </p:cNvPr>
          <p:cNvSpPr txBox="1"/>
          <p:nvPr/>
        </p:nvSpPr>
        <p:spPr>
          <a:xfrm>
            <a:off x="2812316" y="580139"/>
            <a:ext cx="6567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FF2600"/>
                </a:solidFill>
                <a:latin typeface="Helvetica" pitchFamily="2" charset="0"/>
              </a:rPr>
              <a:t>SUNUM VE RAPOR</a:t>
            </a:r>
            <a:endParaRPr lang="tr-TR" sz="2400" b="1" dirty="0">
              <a:solidFill>
                <a:srgbClr val="153039"/>
              </a:solidFill>
              <a:latin typeface="Helvetica" pitchFamily="2" charset="0"/>
            </a:endParaRPr>
          </a:p>
        </p:txBody>
      </p:sp>
      <p:sp>
        <p:nvSpPr>
          <p:cNvPr id="12" name="Slayt Numarası Yer Tutucusu 11">
            <a:extLst>
              <a:ext uri="{FF2B5EF4-FFF2-40B4-BE49-F238E27FC236}">
                <a16:creationId xmlns:a16="http://schemas.microsoft.com/office/drawing/2014/main" id="{263325A4-CD3A-0D12-11D8-CEFDFA39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r-TR" dirty="0"/>
              <a:t>8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702CBE4F-20DF-67D3-48B6-71ABD2AE8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8920" y="159537"/>
            <a:ext cx="1137251" cy="130287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24C858A8-C61C-C396-6C1F-670594716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9" y="242346"/>
            <a:ext cx="1137252" cy="1137252"/>
          </a:xfrm>
          <a:prstGeom prst="rect">
            <a:avLst/>
          </a:prstGeom>
        </p:spPr>
      </p:pic>
      <p:pic>
        <p:nvPicPr>
          <p:cNvPr id="2" name="Resim 1">
            <a:extLst>
              <a:ext uri="{FF2B5EF4-FFF2-40B4-BE49-F238E27FC236}">
                <a16:creationId xmlns:a16="http://schemas.microsoft.com/office/drawing/2014/main" id="{3DCE7D5A-4857-DF8E-26DE-40B6CD9A79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8" r="1318"/>
          <a:stretch/>
        </p:blipFill>
        <p:spPr>
          <a:xfrm>
            <a:off x="238104" y="6143155"/>
            <a:ext cx="439185" cy="637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294B249-C3AE-5A49-CB52-32AC23D555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5940" y="6119102"/>
            <a:ext cx="601668" cy="713497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47F94730-C234-B4F7-1F82-6CB603F292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98611" y="6157673"/>
            <a:ext cx="1051992" cy="591746"/>
          </a:xfrm>
          <a:prstGeom prst="rect">
            <a:avLst/>
          </a:prstGeom>
        </p:spPr>
      </p:pic>
      <p:sp>
        <p:nvSpPr>
          <p:cNvPr id="5" name="Yuvarlatılmış Dikdörtgen 4">
            <a:extLst>
              <a:ext uri="{FF2B5EF4-FFF2-40B4-BE49-F238E27FC236}">
                <a16:creationId xmlns:a16="http://schemas.microsoft.com/office/drawing/2014/main" id="{72228507-9466-27E3-AFA2-512227B9209C}"/>
              </a:ext>
            </a:extLst>
          </p:cNvPr>
          <p:cNvSpPr/>
          <p:nvPr/>
        </p:nvSpPr>
        <p:spPr>
          <a:xfrm>
            <a:off x="962376" y="1800908"/>
            <a:ext cx="4809111" cy="3395914"/>
          </a:xfrm>
          <a:prstGeom prst="roundRect">
            <a:avLst>
              <a:gd name="adj" fmla="val 3935"/>
            </a:avLst>
          </a:prstGeom>
          <a:solidFill>
            <a:srgbClr val="E0ED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2000" dirty="0"/>
          </a:p>
        </p:txBody>
      </p:sp>
      <p:sp>
        <p:nvSpPr>
          <p:cNvPr id="8" name="Yuvarlatılmış Dikdörtgen 7">
            <a:extLst>
              <a:ext uri="{FF2B5EF4-FFF2-40B4-BE49-F238E27FC236}">
                <a16:creationId xmlns:a16="http://schemas.microsoft.com/office/drawing/2014/main" id="{1FC4280A-AE61-8C29-1B25-4493B8F1CA82}"/>
              </a:ext>
            </a:extLst>
          </p:cNvPr>
          <p:cNvSpPr/>
          <p:nvPr/>
        </p:nvSpPr>
        <p:spPr>
          <a:xfrm>
            <a:off x="6420514" y="1800908"/>
            <a:ext cx="4933286" cy="3395913"/>
          </a:xfrm>
          <a:prstGeom prst="roundRect">
            <a:avLst>
              <a:gd name="adj" fmla="val 3935"/>
            </a:avLst>
          </a:prstGeom>
          <a:solidFill>
            <a:srgbClr val="E0ED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20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E14BEB1-E3E3-6F8C-C25B-1E9B6324B8F1}"/>
              </a:ext>
            </a:extLst>
          </p:cNvPr>
          <p:cNvSpPr txBox="1"/>
          <p:nvPr/>
        </p:nvSpPr>
        <p:spPr>
          <a:xfrm>
            <a:off x="1256774" y="1963324"/>
            <a:ext cx="3407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600" b="1" dirty="0">
                <a:solidFill>
                  <a:srgbClr val="0D2232"/>
                </a:solidFill>
                <a:effectLst/>
                <a:latin typeface="Helvetica" pitchFamily="2" charset="0"/>
              </a:rPr>
              <a:t>Sözlü Sunum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7AF0B9D8-FAD8-87F4-A48B-06BC41AE967B}"/>
              </a:ext>
            </a:extLst>
          </p:cNvPr>
          <p:cNvSpPr txBox="1"/>
          <p:nvPr/>
        </p:nvSpPr>
        <p:spPr>
          <a:xfrm>
            <a:off x="6721953" y="1963324"/>
            <a:ext cx="3407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600" b="1" dirty="0">
                <a:solidFill>
                  <a:srgbClr val="0D2232"/>
                </a:solidFill>
                <a:latin typeface="Helvetica" pitchFamily="2" charset="0"/>
              </a:rPr>
              <a:t>Rapor</a:t>
            </a:r>
            <a:endParaRPr lang="tr-TR" sz="1600" b="1" dirty="0">
              <a:solidFill>
                <a:srgbClr val="0D2232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20AB470-C4E1-875F-3DD3-05857EB28C61}"/>
              </a:ext>
            </a:extLst>
          </p:cNvPr>
          <p:cNvSpPr txBox="1"/>
          <p:nvPr/>
        </p:nvSpPr>
        <p:spPr>
          <a:xfrm>
            <a:off x="1256774" y="2433516"/>
            <a:ext cx="4183327" cy="23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Takım başına en fazla 12 dakika, sıra kurayla belirlenir.</a:t>
            </a:r>
          </a:p>
          <a:p>
            <a:pPr marL="0" marR="0">
              <a:buNone/>
            </a:pPr>
            <a:endParaRPr lang="tr-TR" sz="1400" dirty="0">
              <a:solidFill>
                <a:srgbClr val="0D2231"/>
              </a:solidFill>
              <a:effectLst/>
              <a:latin typeface="Helvetica" pitchFamily="2" charset="0"/>
            </a:endParaRP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Problemi ve yaklaşımınızı anlatım netliği</a:t>
            </a: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Kuantum ve hibrit bileşenin gerekçelendirilmesi</a:t>
            </a: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Yöntemin özgünlüğü</a:t>
            </a: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Sonu</a:t>
            </a: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ç</a:t>
            </a: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ların </a:t>
            </a:r>
            <a:r>
              <a:rPr lang="tr-TR" sz="1400" dirty="0" err="1">
                <a:solidFill>
                  <a:srgbClr val="0D2231"/>
                </a:solidFill>
                <a:effectLst/>
                <a:latin typeface="Helvetica" pitchFamily="2" charset="0"/>
              </a:rPr>
              <a:t>dürüst</a:t>
            </a: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 ve </a:t>
            </a:r>
            <a:r>
              <a:rPr lang="tr-TR" sz="1400" dirty="0" err="1">
                <a:solidFill>
                  <a:srgbClr val="0D2231"/>
                </a:solidFill>
                <a:effectLst/>
                <a:latin typeface="Helvetica" pitchFamily="2" charset="0"/>
              </a:rPr>
              <a:t>öl</a:t>
            </a:r>
            <a:r>
              <a:rPr lang="tr-TR" sz="1400" dirty="0" err="1">
                <a:solidFill>
                  <a:srgbClr val="0D2231"/>
                </a:solidFill>
                <a:latin typeface="Helvetica" pitchFamily="2" charset="0"/>
              </a:rPr>
              <a:t>ç</a:t>
            </a:r>
            <a:r>
              <a:rPr lang="tr-TR" sz="1400" dirty="0" err="1">
                <a:solidFill>
                  <a:srgbClr val="0D2231"/>
                </a:solidFill>
                <a:effectLst/>
                <a:latin typeface="Helvetica" pitchFamily="2" charset="0"/>
              </a:rPr>
              <a:t>ülebilir</a:t>
            </a: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 sunumu</a:t>
            </a: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Hakem</a:t>
            </a:r>
            <a:r>
              <a:rPr lang="tr-TR" sz="1400" dirty="0">
                <a:solidFill>
                  <a:srgbClr val="0D2231"/>
                </a:solidFill>
                <a:effectLst/>
                <a:latin typeface="Helvetica" pitchFamily="2" charset="0"/>
              </a:rPr>
              <a:t> sorularına verilen yanıtlar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E6B01585-1917-554F-916B-2C1DE3138775}"/>
              </a:ext>
            </a:extLst>
          </p:cNvPr>
          <p:cNvSpPr txBox="1"/>
          <p:nvPr/>
        </p:nvSpPr>
        <p:spPr>
          <a:xfrm>
            <a:off x="6721953" y="2433516"/>
            <a:ext cx="4183327" cy="178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PDF, en fazla 15 sayfa, 12 punto.</a:t>
            </a:r>
          </a:p>
          <a:p>
            <a:endParaRPr lang="tr-TR" sz="1400" dirty="0">
              <a:solidFill>
                <a:srgbClr val="0D2231"/>
              </a:solidFill>
              <a:latin typeface="Helvetica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Yöntemin izlenebilir biçimde anlatılması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Teknik netlik ve terminoloji tutarlılığı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Şekil, tablo ve metriklerin okunabilirliği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Kaynak ve </a:t>
            </a:r>
            <a:r>
              <a:rPr lang="tr-TR" sz="1400" dirty="0" err="1">
                <a:solidFill>
                  <a:srgbClr val="0D2231"/>
                </a:solidFill>
                <a:latin typeface="Helvetica" pitchFamily="2" charset="0"/>
              </a:rPr>
              <a:t>üçüncu</a:t>
            </a:r>
            <a:r>
              <a:rPr lang="tr-TR" sz="1400" dirty="0">
                <a:solidFill>
                  <a:srgbClr val="0D2231"/>
                </a:solidFill>
                <a:latin typeface="Helvetica" pitchFamily="2" charset="0"/>
              </a:rPr>
              <a:t>̈ taraf araç bildirimi</a:t>
            </a:r>
          </a:p>
        </p:txBody>
      </p:sp>
      <p:pic>
        <p:nvPicPr>
          <p:cNvPr id="7" name="Resim 6" descr="Download D-Wave Systems Logo in SVG Vector or PNG File Format - Logo.wine">
            <a:extLst>
              <a:ext uri="{FF2B5EF4-FFF2-40B4-BE49-F238E27FC236}">
                <a16:creationId xmlns:a16="http://schemas.microsoft.com/office/drawing/2014/main" id="{C694C39E-664B-E2F6-EB8F-11B7C4870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575" y="6046081"/>
            <a:ext cx="1478492" cy="98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26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C2F00-5C26-91C6-0EEB-3DEB5240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7625CB42-82B1-0328-6FB8-B8A566D04C49}"/>
              </a:ext>
            </a:extLst>
          </p:cNvPr>
          <p:cNvSpPr txBox="1"/>
          <p:nvPr/>
        </p:nvSpPr>
        <p:spPr>
          <a:xfrm>
            <a:off x="798239" y="3167390"/>
            <a:ext cx="5297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SORU  &amp; CEVAP</a:t>
            </a: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65F058B4-8653-39BE-5624-5EF4B34E6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264" y="159537"/>
            <a:ext cx="1137252" cy="1302871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39B78B61-EFD9-2E59-3978-DA48040EE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3" y="242346"/>
            <a:ext cx="1137252" cy="113725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4AB43FB-9FA5-EC4D-2693-0E599626A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511" y="5679440"/>
            <a:ext cx="993841" cy="117856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2D09954A-90D0-33F0-DF12-0F04071F0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735" y="5852033"/>
            <a:ext cx="1504539" cy="846303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D446059-40E5-E009-C78F-E5455866F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189" y="5679440"/>
            <a:ext cx="956920" cy="117856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CF6F0143-0738-9365-A75D-D1B8514971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920" y="5679440"/>
            <a:ext cx="1329728" cy="13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1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1493</Words>
  <Application>Microsoft Macintosh PowerPoint</Application>
  <PresentationFormat>Geniş ekran</PresentationFormat>
  <Paragraphs>316</Paragraphs>
  <Slides>22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HELVETICA LIGHT</vt:lpstr>
      <vt:lpstr>HELVETICA LIGHT</vt:lpstr>
      <vt:lpstr>Helvetica</vt:lpstr>
      <vt:lpstr>Sistem Fontu Normal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Erdi ACAR</dc:creator>
  <cp:lastModifiedBy>Erdi ACAR</cp:lastModifiedBy>
  <cp:revision>31</cp:revision>
  <dcterms:created xsi:type="dcterms:W3CDTF">2026-08-07T12:11:50Z</dcterms:created>
  <dcterms:modified xsi:type="dcterms:W3CDTF">2026-08-28T20:34:07Z</dcterms:modified>
</cp:coreProperties>
</file>